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읽는 법" id="{6ed739a3-da21-aacf-889d-87cfa9b3f28a}">
          <p14:sldIdLst>
            <p14:sldId id="256"/>
            <p14:sldId id="257"/>
            <p14:sldId id="258"/>
            <p14:sldId id="259"/>
            <p14:sldId id="260"/>
          </p14:sldIdLst>
        </p14:section>
        <p14:section name="화면으로 보기" id="{4bd4ae00-68b3-436a-8116-d7e84f87ae30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PI 요청 작성" id="{aa55c474-bb41-7f85-db99-4fdeb426c426}">
          <p14:sldIdLst>
            <p14:sldId id="268"/>
            <p14:sldId id="269"/>
            <p14:sldId id="270"/>
            <p14:sldId id="271"/>
            <p14:sldId id="272"/>
          </p14:sldIdLst>
        </p14:section>
        <p14:section name="다음 단계" id="{b67a1887-783e-e74e-e4eb-a5fe8f934e97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상세 기능 요구사항 정의서 v1.71의 02_조회·연계구조(GR-01~21)와 03_상세정보 제공항목(DQ-GG-NNN)이 화면 어디에 나타나는지 보여주고, 그 내용을 API 요청서에 어떻게 담는지 샘플로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흐름: 조건·특보·AI 모드로 질의 진입 → Agent가 답변과 대상유형·ID 반환 → 02 시트 규칙대로 대상 선택·상세조회·관련 정보 연결 → 상세의 각 칸은 03 시트 정보 제공 묶음(DQ-GG-NNN). GG = 02 그룹 번호.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시트 순서 = 사용자의 업무 흐름. 질의 진입(조건·특보·AI 모드) → 과거 사례 → 위험·취약 대상 → 계획지식 → 대응 → 공통. 이후 화면 슬라이드도 이 순서를 따른다.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시트 상단 문구: '실제 상세항목·응답 요청 기준은 03 시트에서 관리한다.' 즉 02는 고르고 잇는 규칙, 03은 데이터 명세.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시트의 한 행(DQ-GG-NNN)은 '이 그룹의 이 묶음에 이 값들을, 이 기준으로, 이 식별자로' 달라는 명세. 개정판에서 '기존 API 참고·원시데이터 근거·이력' 열은 빠지고 8개 열로 정리됨.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GR-01은 03 시트 연결이 '해당 없음 / 입력·외부 특보 조회'. 입력값은 QueryContext로 Agent 질의에 실리고, 유사사례의 영향요인 비교(DQ-04-003)에서 '현재조건 입력값'으로 돌아온다. 조건을 하나도 넣지 않으면 기준지역 일반 질의.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GR-02도 03 묶음이 없다(입력·외부 특보 조회). 참조한 특보는 refAdvisory로 질의에 실린다. AI 모드 점검과 연결될 때는 점검 요청 ID(GR-03)와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GR-03의 03 묶음은 DQ-03-001(판단·근거, 필수)과 DQ-03-002(특보 안내). 추천질문은 GR-21 DQ-21-001로 분리됨(일반대화에도 필수 응답).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GR-04의 '관련 정보 연결': 사건 이력(GR-05), 근거문서(GR-06), 위성영상(GR-07)을 기본 세트로, 소방 신고(GR-08)·침수기록(GR-09)·대응정보(GR-17~18)·지도(GR-20)를 함께. 영향요인 비교(DQ-04-003)는 RFP 필수 — 0917 T3Q-11 보완 대상.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예: “부산 급경사지는 어디 있고, 왜·언제 위험한가요?” (훈련 시나리오). 02 GR-10의 관련 정보 연결: 같은 객체의 지정·평가·점검·사업 이력, 계획·하천, 대피·근거·지도.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GR-10 안에 공통 묶음(DQ-10-001~005)과 하위유형 전용 묶음이 있다. 급경사지·붕괴위험지역 = DQ-10-009~016 (시설·위험정보, 위치, 정비사업, 연계키, 지정·점검·조사·준공 이력) — 0917 요청서에는 이 부분이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GR-18 행동매뉴얼 대응절차 = DQ-18-001~009 (매뉴얼 적용범위 → 단계 → 업무 → 발동조건 → 담당·협업·보고 → 진행 관계 → 대피·통제·자원 → 추출 근거 → Agent 절차 연결). 0917 요청 목록(T3Q-01~27)에는 매뉴얼이 근거 인용으로만 나오고 프로세스 API가 없어 신규 요청 필요 — 리스크 1순위.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0917 요청서는 화면 탭 기준의 공통 attributes 배열이라 03 시트의 하위유형 묶음과 '응답 요청 기준'이 드러나지 않는다. 구조는 유지하고 섹션·식별자·상태값을 더하는 방향.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요청은 object_type과 sections 쿼리로 '어느 그룹의 어느 탭'을 받을지 명시. 응답은 target(그룹·식별자)과 sections(DQ 단위)로 나눈다.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하위유형 섹션, 값 분리, NOT_COLLECTED, 계획자료 기준일과 UNKNOWN, 이력 배열, 그룹별 links. data_gaps에는 dq_id를 달아 어느 요구 행이 비었는지 바로 보이게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요청서 전체에 같은 규칙을 적용하면, T3Q 회신표와 03 시트를 행 단위로 대조할 수 있고 화면 '미제공' 처리도 일관된다.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 = 보강·신규가 필요한 리스크 항목. 매뉴얼 프로세스(GR-18)는 0917 목록에 해당 API가 없어 신규 요청이 필요하다. T3Q 2차 회신표는 이전 ID(DQ-001~155)를 쓰므로 부록 대조표로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T3Q 2차 검토회신표 등 이전 자료는 DQ-001~155(이전 ID)를 쓴다. 회신을 대조할 때 이 표 또는 CSV로 개정 ID를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63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63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11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재난안전 AI 시범서비스 · 상세기능요구사항 02·03 시트 읽기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상세기능요구사항 02·03 시트,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화면과 API 요청으로 읽기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02 조회·연계구조(GR) · 03 상세정보 제공항목(DQ)을 시범서비스 화면에 대응시키고, 1차 API 요청서(0917) T3Q-15 개정 샘플로 정리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</a:rPr>
              <a:t>재난안전 AI 데이터 구축 시범서비스 · 유엔이 · 2026.10 · 상세 기능 요구사항 정의서 v1.71 기준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 시트는 무엇을 고르고 어디로 잇는가, 03 시트는 무엇을 받아야 하는가</a:t>
            </a:r>
            <a:endParaRPr lang="en-US" sz="2600" dirty="0"/>
          </a:p>
        </p:txBody>
      </p:sp>
      <p:sp>
        <p:nvSpPr>
          <p:cNvPr id="3" name="흐름 질의 진입"/>
          <p:cNvSpPr/>
          <p:nvPr/>
        </p:nvSpPr>
        <p:spPr>
          <a:xfrm>
            <a:off x="411480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6D7882"/>
            </a:solidFill>
            <a:prstDash val="solid"/>
          </a:ln>
        </p:spPr>
      </p:sp>
      <p:sp>
        <p:nvSpPr>
          <p:cNvPr id="4" name="흐름 머리 질의 진입"/>
          <p:cNvSpPr/>
          <p:nvPr/>
        </p:nvSpPr>
        <p:spPr>
          <a:xfrm>
            <a:off x="411480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6D78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질의 진입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조건 입력 GR-01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특보 GR-02 · AI 모드 GR-03</a:t>
            </a:r>
            <a:endParaRPr lang="en-US" sz="1200" dirty="0"/>
          </a:p>
        </p:txBody>
      </p:sp>
      <p:sp>
        <p:nvSpPr>
          <p:cNvPr id="7" name="화살표"/>
          <p:cNvSpPr/>
          <p:nvPr/>
        </p:nvSpPr>
        <p:spPr>
          <a:xfrm>
            <a:off x="2551176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8" name="흐름 Agent 응답"/>
          <p:cNvSpPr/>
          <p:nvPr/>
        </p:nvSpPr>
        <p:spPr>
          <a:xfrm>
            <a:off x="2715768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63A74"/>
            </a:solidFill>
            <a:prstDash val="solid"/>
          </a:ln>
        </p:spPr>
      </p:sp>
      <p:sp>
        <p:nvSpPr>
          <p:cNvPr id="9" name="흐름 머리 Agent 응답"/>
          <p:cNvSpPr/>
          <p:nvPr/>
        </p:nvSpPr>
        <p:spPr>
          <a:xfrm>
            <a:off x="2715768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63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15768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 응답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25496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답변 + 대상유형·ID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공통 연결 GR-19</a:t>
            </a:r>
            <a:endParaRPr lang="en-US" sz="1200" dirty="0"/>
          </a:p>
        </p:txBody>
      </p:sp>
      <p:sp>
        <p:nvSpPr>
          <p:cNvPr id="12" name="화살표"/>
          <p:cNvSpPr/>
          <p:nvPr/>
        </p:nvSpPr>
        <p:spPr>
          <a:xfrm>
            <a:off x="4855464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13" name="흐름 대상 선택"/>
          <p:cNvSpPr/>
          <p:nvPr/>
        </p:nvSpPr>
        <p:spPr>
          <a:xfrm>
            <a:off x="5020056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EF4"/>
            </a:solidFill>
            <a:prstDash val="solid"/>
          </a:ln>
        </p:spPr>
      </p:sp>
      <p:sp>
        <p:nvSpPr>
          <p:cNvPr id="14" name="흐름 머리 대상 선택"/>
          <p:cNvSpPr/>
          <p:nvPr/>
        </p:nvSpPr>
        <p:spPr>
          <a:xfrm>
            <a:off x="5020056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256E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0056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대상 선택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9784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02 대상그룹(A)·선택 대상(B)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핵심 표시항목(C)</a:t>
            </a:r>
            <a:endParaRPr lang="en-US" sz="1200" dirty="0"/>
          </a:p>
        </p:txBody>
      </p:sp>
      <p:sp>
        <p:nvSpPr>
          <p:cNvPr id="17" name="화살표"/>
          <p:cNvSpPr/>
          <p:nvPr/>
        </p:nvSpPr>
        <p:spPr>
          <a:xfrm>
            <a:off x="7159752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18" name="흐름 상세조회 · 연결"/>
          <p:cNvSpPr/>
          <p:nvPr/>
        </p:nvSpPr>
        <p:spPr>
          <a:xfrm>
            <a:off x="7324344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EF4"/>
            </a:solidFill>
            <a:prstDash val="solid"/>
          </a:ln>
        </p:spPr>
      </p:sp>
      <p:sp>
        <p:nvSpPr>
          <p:cNvPr id="19" name="흐름 머리 상세조회 · 연결"/>
          <p:cNvSpPr/>
          <p:nvPr/>
        </p:nvSpPr>
        <p:spPr>
          <a:xfrm>
            <a:off x="7324344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256E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24344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상세조회 · 연결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02 핵심 표시항목 상세(D)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관련 정보 연결</a:t>
            </a:r>
            <a:endParaRPr lang="en-US" sz="1200" dirty="0"/>
          </a:p>
        </p:txBody>
      </p:sp>
      <p:sp>
        <p:nvSpPr>
          <p:cNvPr id="22" name="화살표"/>
          <p:cNvSpPr/>
          <p:nvPr/>
        </p:nvSpPr>
        <p:spPr>
          <a:xfrm>
            <a:off x="9464040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23" name="흐름 정보 제공 묶음"/>
          <p:cNvSpPr/>
          <p:nvPr/>
        </p:nvSpPr>
        <p:spPr>
          <a:xfrm>
            <a:off x="9628632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5590B"/>
            </a:solidFill>
            <a:prstDash val="solid"/>
          </a:ln>
        </p:spPr>
      </p:sp>
      <p:sp>
        <p:nvSpPr>
          <p:cNvPr id="24" name="흐름 머리 정보 제공 묶음"/>
          <p:cNvSpPr/>
          <p:nvPr/>
        </p:nvSpPr>
        <p:spPr>
          <a:xfrm>
            <a:off x="9628632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559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28632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정보 제공 묶음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03 DQ-GG-NNN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155개 묶음 · 417개 항목</a:t>
            </a:r>
            <a:endParaRPr lang="en-US" sz="1200" dirty="0"/>
          </a:p>
        </p:txBody>
      </p:sp>
      <p:sp>
        <p:nvSpPr>
          <p:cNvPr id="27" name="요약 카드 02_조회·연계구조"/>
          <p:cNvSpPr/>
          <p:nvPr/>
        </p:nvSpPr>
        <p:spPr>
          <a:xfrm>
            <a:off x="411480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EF4"/>
                </a:solidFill>
              </a:rPr>
              <a:t>02_조회·연계구조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고르고 잇는 규칙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21개 그룹(GR)을 업무 흐름 순서로 배치했다. 그룹마다 무엇을 고르고(A·B), 무엇을 바로 보이고(C), 어디로 들어와(진입 경로) 어디로 잇는지(관련 정보 연결) 정한다.</a:t>
            </a:r>
            <a:endParaRPr lang="en-US" sz="1200" dirty="0"/>
          </a:p>
        </p:txBody>
      </p:sp>
      <p:sp>
        <p:nvSpPr>
          <p:cNvPr id="29" name="요약 카드 03_상세정보 제공항목"/>
          <p:cNvSpPr/>
          <p:nvPr/>
        </p:nvSpPr>
        <p:spPr>
          <a:xfrm>
            <a:off x="4279392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07992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5590B"/>
                </a:solidFill>
              </a:rPr>
              <a:t>03_상세정보 제공항목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받아야 할 데이터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정보 제공 묶음 155개(세부 417개). ID 앞 두 자리가 02 그룹 번호라서 DQ-10-009는 GR-10의 9번째 묶음이다. 응답 요청 기준·식별자까지 정한 응답 명세다.</a:t>
            </a:r>
            <a:endParaRPr lang="en-US" sz="1200" dirty="0"/>
          </a:p>
        </p:txBody>
      </p:sp>
      <p:sp>
        <p:nvSpPr>
          <p:cNvPr id="31" name="요약 카드 API 요청서"/>
          <p:cNvSpPr/>
          <p:nvPr/>
        </p:nvSpPr>
        <p:spPr>
          <a:xfrm>
            <a:off x="8147304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75904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3A74"/>
                </a:solidFill>
              </a:rPr>
              <a:t>API 요청서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03의 한 행 = 응답 한 묶음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응답을 DQ 단위 섹션으로 묶고 dq_id·group_id를 달면 요구사항 ↔ 화면 ↔ API가 한 줄로 추적된다. 0917 요청서는 이 축이 없어 누락을 찾기 어렵다.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 시트 21개 그룹은 업무 흐름 순서다</a:t>
            </a:r>
            <a:endParaRPr lang="en-US" sz="2600" dirty="0"/>
          </a:p>
        </p:txBody>
      </p:sp>
      <p:sp>
        <p:nvSpPr>
          <p:cNvPr id="3" name="단계 ① 질의 진입"/>
          <p:cNvSpPr/>
          <p:nvPr/>
        </p:nvSpPr>
        <p:spPr>
          <a:xfrm>
            <a:off x="411480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6D78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 질의 진입</a:t>
            </a:r>
            <a:endParaRPr lang="en-US" sz="1400" dirty="0"/>
          </a:p>
        </p:txBody>
      </p:sp>
      <p:sp>
        <p:nvSpPr>
          <p:cNvPr id="5" name="그룹 GR-01"/>
          <p:cNvSpPr/>
          <p:nvPr/>
        </p:nvSpPr>
        <p:spPr>
          <a:xfrm>
            <a:off x="411480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03 연결 없음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기상·수문 수동 조건</a:t>
            </a:r>
            <a:endParaRPr lang="en-US" sz="1100" dirty="0"/>
          </a:p>
        </p:txBody>
      </p:sp>
      <p:sp>
        <p:nvSpPr>
          <p:cNvPr id="7" name="그룹 GR-02"/>
          <p:cNvSpPr/>
          <p:nvPr/>
        </p:nvSpPr>
        <p:spPr>
          <a:xfrm>
            <a:off x="411480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GR-02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03 연결 없음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기상특보 현황·질의 진입</a:t>
            </a:r>
            <a:endParaRPr lang="en-US" sz="1100" dirty="0"/>
          </a:p>
        </p:txBody>
      </p:sp>
      <p:sp>
        <p:nvSpPr>
          <p:cNvPr id="9" name="그룹 GR-03"/>
          <p:cNvSpPr/>
          <p:nvPr/>
        </p:nvSpPr>
        <p:spPr>
          <a:xfrm>
            <a:off x="411480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GR-03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2개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AI 모드 상황점검</a:t>
            </a:r>
            <a:endParaRPr lang="en-US" sz="1100" dirty="0"/>
          </a:p>
        </p:txBody>
      </p:sp>
      <p:sp>
        <p:nvSpPr>
          <p:cNvPr id="11" name="단계 ② 과거 사례"/>
          <p:cNvSpPr/>
          <p:nvPr/>
        </p:nvSpPr>
        <p:spPr>
          <a:xfrm>
            <a:off x="2317090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063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17090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과거 사례</a:t>
            </a:r>
            <a:endParaRPr lang="en-US" sz="1400" dirty="0"/>
          </a:p>
        </p:txBody>
      </p:sp>
      <p:sp>
        <p:nvSpPr>
          <p:cNvPr id="13" name="그룹 GR-04"/>
          <p:cNvSpPr/>
          <p:nvPr/>
        </p:nvSpPr>
        <p:spPr>
          <a:xfrm>
            <a:off x="2317090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08530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GR-04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8개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유사재난 사례</a:t>
            </a:r>
            <a:endParaRPr lang="en-US" sz="1100" dirty="0"/>
          </a:p>
        </p:txBody>
      </p:sp>
      <p:sp>
        <p:nvSpPr>
          <p:cNvPr id="15" name="그룹 GR-05"/>
          <p:cNvSpPr/>
          <p:nvPr/>
        </p:nvSpPr>
        <p:spPr>
          <a:xfrm>
            <a:off x="2317090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08530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GR-05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사건 타임라인·피해·대응·복구</a:t>
            </a:r>
            <a:endParaRPr lang="en-US" sz="1100" dirty="0"/>
          </a:p>
        </p:txBody>
      </p:sp>
      <p:sp>
        <p:nvSpPr>
          <p:cNvPr id="17" name="그룹 GR-06"/>
          <p:cNvSpPr/>
          <p:nvPr/>
        </p:nvSpPr>
        <p:spPr>
          <a:xfrm>
            <a:off x="2317090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8530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GR-06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근거문서·Passage</a:t>
            </a:r>
            <a:endParaRPr lang="en-US" sz="1100" dirty="0"/>
          </a:p>
        </p:txBody>
      </p:sp>
      <p:sp>
        <p:nvSpPr>
          <p:cNvPr id="19" name="그룹 GR-07"/>
          <p:cNvSpPr/>
          <p:nvPr/>
        </p:nvSpPr>
        <p:spPr>
          <a:xfrm>
            <a:off x="2317090" y="356616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08530" y="3566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GR-07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7개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재난 전·후 위성영상</a:t>
            </a:r>
            <a:endParaRPr lang="en-US" sz="1100" dirty="0"/>
          </a:p>
        </p:txBody>
      </p:sp>
      <p:sp>
        <p:nvSpPr>
          <p:cNvPr id="21" name="그룹 GR-08"/>
          <p:cNvSpPr/>
          <p:nvPr/>
        </p:nvSpPr>
        <p:spPr>
          <a:xfrm>
            <a:off x="2317090" y="420624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08530" y="4206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GR-08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7개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소방 신고·긴급구조</a:t>
            </a:r>
            <a:endParaRPr lang="en-US" sz="1100" dirty="0"/>
          </a:p>
        </p:txBody>
      </p:sp>
      <p:sp>
        <p:nvSpPr>
          <p:cNvPr id="23" name="그룹 GR-09"/>
          <p:cNvSpPr/>
          <p:nvPr/>
        </p:nvSpPr>
        <p:spPr>
          <a:xfrm>
            <a:off x="2317090" y="48463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08530" y="48463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GR-09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침수흔적도·과거 침수</a:t>
            </a:r>
            <a:endParaRPr lang="en-US" sz="1100" dirty="0"/>
          </a:p>
        </p:txBody>
      </p:sp>
      <p:sp>
        <p:nvSpPr>
          <p:cNvPr id="25" name="단계 ③ 위험·취약 대상"/>
          <p:cNvSpPr/>
          <p:nvPr/>
        </p:nvSpPr>
        <p:spPr>
          <a:xfrm>
            <a:off x="4222699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256E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22699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위험·취약 대상</a:t>
            </a:r>
            <a:endParaRPr lang="en-US" sz="1400" dirty="0"/>
          </a:p>
        </p:txBody>
      </p:sp>
      <p:sp>
        <p:nvSpPr>
          <p:cNvPr id="27" name="그룹 GR-10"/>
          <p:cNvSpPr/>
          <p:nvPr/>
        </p:nvSpPr>
        <p:spPr>
          <a:xfrm>
            <a:off x="4222699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14139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GR-10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29개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법정·계획상 위험·취약지역</a:t>
            </a:r>
            <a:endParaRPr lang="en-US" sz="1100" dirty="0"/>
          </a:p>
        </p:txBody>
      </p:sp>
      <p:sp>
        <p:nvSpPr>
          <p:cNvPr id="29" name="그룹 GR-11"/>
          <p:cNvSpPr/>
          <p:nvPr/>
        </p:nvSpPr>
        <p:spPr>
          <a:xfrm>
            <a:off x="4222699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14139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취약시설</a:t>
            </a:r>
            <a:endParaRPr lang="en-US" sz="1100" dirty="0"/>
          </a:p>
        </p:txBody>
      </p:sp>
      <p:sp>
        <p:nvSpPr>
          <p:cNvPr id="31" name="그룹 GR-12"/>
          <p:cNvSpPr/>
          <p:nvPr/>
        </p:nvSpPr>
        <p:spPr>
          <a:xfrm>
            <a:off x="4222699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14139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GR-12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잠재 위험요소</a:t>
            </a:r>
            <a:endParaRPr lang="en-US" sz="1100" dirty="0"/>
          </a:p>
        </p:txBody>
      </p:sp>
      <p:sp>
        <p:nvSpPr>
          <p:cNvPr id="33" name="단계 ④ 계획지식"/>
          <p:cNvSpPr/>
          <p:nvPr/>
        </p:nvSpPr>
        <p:spPr>
          <a:xfrm>
            <a:off x="6128309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22873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8309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 계획지식</a:t>
            </a:r>
            <a:endParaRPr lang="en-US" sz="1400" dirty="0"/>
          </a:p>
        </p:txBody>
      </p:sp>
      <p:sp>
        <p:nvSpPr>
          <p:cNvPr id="35" name="그룹 GR-13"/>
          <p:cNvSpPr/>
          <p:nvPr/>
        </p:nvSpPr>
        <p:spPr>
          <a:xfrm>
            <a:off x="6128309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9749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GR-13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하천·소하천 기본정보</a:t>
            </a:r>
            <a:endParaRPr lang="en-US" sz="1100" dirty="0"/>
          </a:p>
        </p:txBody>
      </p:sp>
      <p:sp>
        <p:nvSpPr>
          <p:cNvPr id="37" name="그룹 GR-14"/>
          <p:cNvSpPr/>
          <p:nvPr/>
        </p:nvSpPr>
        <p:spPr>
          <a:xfrm>
            <a:off x="6128309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9749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GR-14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자연재해저감종합계획</a:t>
            </a:r>
            <a:endParaRPr lang="en-US" sz="1100" dirty="0"/>
          </a:p>
        </p:txBody>
      </p:sp>
      <p:sp>
        <p:nvSpPr>
          <p:cNvPr id="39" name="그룹 GR-15"/>
          <p:cNvSpPr/>
          <p:nvPr/>
        </p:nvSpPr>
        <p:spPr>
          <a:xfrm>
            <a:off x="6128309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9749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GR-15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하천기본계획</a:t>
            </a:r>
            <a:endParaRPr lang="en-US" sz="1100" dirty="0"/>
          </a:p>
        </p:txBody>
      </p:sp>
      <p:sp>
        <p:nvSpPr>
          <p:cNvPr id="41" name="그룹 GR-16"/>
          <p:cNvSpPr/>
          <p:nvPr/>
        </p:nvSpPr>
        <p:spPr>
          <a:xfrm>
            <a:off x="6128309" y="356616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9749" y="3566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GR-16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소하천정비종합계획</a:t>
            </a:r>
            <a:endParaRPr lang="en-US" sz="1100" dirty="0"/>
          </a:p>
        </p:txBody>
      </p:sp>
      <p:sp>
        <p:nvSpPr>
          <p:cNvPr id="43" name="단계 ⑤ 대응"/>
          <p:cNvSpPr/>
          <p:nvPr/>
        </p:nvSpPr>
        <p:spPr>
          <a:xfrm>
            <a:off x="8033918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5590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33918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⑤ 대응</a:t>
            </a:r>
            <a:endParaRPr lang="en-US" sz="1400" dirty="0"/>
          </a:p>
        </p:txBody>
      </p:sp>
      <p:sp>
        <p:nvSpPr>
          <p:cNvPr id="45" name="그룹 GR-17"/>
          <p:cNvSpPr/>
          <p:nvPr/>
        </p:nvSpPr>
        <p:spPr>
          <a:xfrm>
            <a:off x="8033918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25358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90B"/>
                </a:solidFill>
              </a:rPr>
              <a:t>GR-17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대피시설·기본 행동정보</a:t>
            </a:r>
            <a:endParaRPr lang="en-US" sz="1100" dirty="0"/>
          </a:p>
        </p:txBody>
      </p:sp>
      <p:sp>
        <p:nvSpPr>
          <p:cNvPr id="47" name="그룹 GR-18"/>
          <p:cNvSpPr/>
          <p:nvPr/>
        </p:nvSpPr>
        <p:spPr>
          <a:xfrm>
            <a:off x="8033918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25358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90B"/>
                </a:solidFill>
              </a:rPr>
              <a:t>GR-18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행동매뉴얼 대응절차</a:t>
            </a:r>
            <a:endParaRPr lang="en-US" sz="1100" dirty="0"/>
          </a:p>
        </p:txBody>
      </p:sp>
      <p:sp>
        <p:nvSpPr>
          <p:cNvPr id="49" name="단계 ⑥ 공통"/>
          <p:cNvSpPr/>
          <p:nvPr/>
        </p:nvSpPr>
        <p:spPr>
          <a:xfrm>
            <a:off x="9939528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6F4BD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939528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⑥ 공통</a:t>
            </a:r>
            <a:endParaRPr lang="en-US" sz="1400" dirty="0"/>
          </a:p>
        </p:txBody>
      </p:sp>
      <p:sp>
        <p:nvSpPr>
          <p:cNvPr id="51" name="그룹 GR-19"/>
          <p:cNvSpPr/>
          <p:nvPr/>
        </p:nvSpPr>
        <p:spPr>
          <a:xfrm>
            <a:off x="9939528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030968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GR-19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상세조회 공통 연결·상태</a:t>
            </a:r>
            <a:endParaRPr lang="en-US" sz="1100" dirty="0"/>
          </a:p>
        </p:txBody>
      </p:sp>
      <p:sp>
        <p:nvSpPr>
          <p:cNvPr id="53" name="그룹 GR-20"/>
          <p:cNvSpPr/>
          <p:nvPr/>
        </p:nvSpPr>
        <p:spPr>
          <a:xfrm>
            <a:off x="9939528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30968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GR-20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공간객체·지도 연결</a:t>
            </a:r>
            <a:endParaRPr lang="en-US" sz="1100" dirty="0"/>
          </a:p>
        </p:txBody>
      </p:sp>
      <p:sp>
        <p:nvSpPr>
          <p:cNvPr id="55" name="그룹 GR-21"/>
          <p:cNvSpPr/>
          <p:nvPr/>
        </p:nvSpPr>
        <p:spPr>
          <a:xfrm>
            <a:off x="9939528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30968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GR-21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일반대화 후속 추천질문</a:t>
            </a:r>
            <a:endParaRPr lang="en-US" sz="1100" dirty="0"/>
          </a:p>
        </p:txBody>
      </p:sp>
      <p:sp>
        <p:nvSpPr>
          <p:cNvPr id="57" name="안내 상자"/>
          <p:cNvSpPr/>
          <p:nvPr/>
        </p:nvSpPr>
        <p:spPr>
          <a:xfrm>
            <a:off x="411480" y="5669280"/>
            <a:ext cx="11338560" cy="548640"/>
          </a:xfrm>
          <a:prstGeom prst="roundRect">
            <a:avLst>
              <a:gd name="adj" fmla="val 10000"/>
            </a:avLst>
          </a:prstGeom>
          <a:solidFill>
            <a:srgbClr val="EAF2FE"/>
          </a:solidFill>
          <a:ln/>
        </p:spPr>
      </p:sp>
      <p:sp>
        <p:nvSpPr>
          <p:cNvPr id="58" name="안내 문구"/>
          <p:cNvSpPr txBox="1"/>
          <p:nvPr/>
        </p:nvSpPr>
        <p:spPr>
          <a:xfrm>
            <a:off x="576072" y="5669280"/>
            <a:ext cx="11009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그룹 번호가 곧 03 시트 ID의 앞자리다 (GR-10 → DQ-10-001~029). GR-01·02는 입력·외부 특보 조회라 03 묶음이 없고, 질의 context(QueryContext)로 Agent에 전달된다.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02_조회·연계구조 — 열마다 화면의 어디를 정하는가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무슨 뜻인가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시범서비스 화면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API 요청에서 챙길 것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그룹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GR-01~21, 업무 흐름 순서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대화 → 목록 → 상세 → 연결 순서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 섹션 group_id · 03 ID 앞자리(GG)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대상그룹(A) · 선택 대상(B)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사용자가 보는 정보 묶음과, 그 안에서 고르는 개체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결과 목록 그룹 탭 · 목록 행 · 답변 속 엔터티 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entities에 대상유형(그룹·하위유형) 코드가 있어야 탭을 가름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핵심 표시항목(C)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목록·엔터티에 바로 보일 값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 한 줄: 이름 / 행정구역 · 유형 / 등급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 API(T3Q-04·05) 응답에 필드로 — 상세를 다시 부르지 않게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핵심 표시항목 상세(D) / 03 연결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상세에서 보일 묶음과 03 시트 ID 범위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 패널의 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 섹션 = 03 시트 한 행 (dq_id)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조회·연결 식별자 예시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무엇으로 조회하고 무엇과 잇는가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ID 배지 · 지도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target 블록 (대상유형·객체 ID·원천 관리번호·공간객체 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진입 경로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언제·어디서 이 대상에 들어오나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답변 칩 · 목록 클릭 · AI 모드 · 조건 입력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'Agent가 ID를 반환'이 진입 조건 — 응답에 ID 필수, 추론·생성 금지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정보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함께 열릴 다른 그룹 (예: GR-04 → GR-05·06·07)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연관 객체 탭 · 근거 칩 · 지도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links 블록에 그룹별 ID 목록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03_상세정보 제공항목 — 한 행이 곧 API 응답 한 묶음의 명세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0175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예 (DQ-10-009)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무슨 뜻인가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API 응답에 이렇게 담는다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정보 제공 그룹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DQ-10-009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추적 키 · 앞 두 자리 = 02 그룹 번호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섹션마다 "dq_id"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조회·연계 그룹 ID(A)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GR-10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02 시트의 어느 그룹인가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"group_id"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 대상(B)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급경사지·붕괴위험지역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그룹 안의 하위유형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object_type별 섹션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 내용 구분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시설·위험정보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 패널 안의 탭·묶음 제목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 "label" (화면 탭 이름과 맞춤)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요청 상세정보 항목(D)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재해위험도 등급·점수 / 안전점검일·결과 / 거주가구·인구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받아야 할 값 ('/'로 나뉜 하나하나가 필드)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항목마다 key·label·value·unit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응답 요청 기준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원천값 요청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필수 응답 / 원천값 요청 / 추가 협의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 "basis" + 필드 "provision"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조회·연결 식별자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대상유형 + 객체 ID + 원천 관리번호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무엇으로 조회하고 무엇과 잇는가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"target" 블록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요구사항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UFR-003-001-04, -06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기능 요구사항 추적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API 필드 아님 — 요청서 비고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882"/>
                </a:solidFill>
              </a:rPr>
              <a:t>※ 이전 판(02_목록-상세구조 · 03_T3Q상세정보조회항목) 대비 155개 묶음의 내용(조회 대상·구분·항목·응답 기준·식별자)은 155건 모두 같고, ID와 그룹만 바뀌었다 — 대조표는 부록·CSV.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① 기상·수문 수동 조건(GR-01) — 03 묶음 없이 질의 context로 간다</a:t>
            </a:r>
            <a:endParaRPr lang="en-US" sz="2600" dirty="0"/>
          </a:p>
        </p:txBody>
      </p:sp>
      <p:pic>
        <p:nvPicPr>
          <p:cNvPr id="3" name="화면 G1_cond" descr="시범서비스 화면 캡처 (G1_con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5074920" cy="5051146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5074920" cy="5051146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1325" y="1489558"/>
            <a:ext cx="4815230" cy="36576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5219395" y="137068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5219395" y="1370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1325" y="2318918"/>
            <a:ext cx="4815230" cy="24780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2453" y="220004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2453" y="2200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541325" y="2590495"/>
            <a:ext cx="4815230" cy="24780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422453" y="247162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422453" y="24716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76656" y="3401568"/>
            <a:ext cx="4543654" cy="38679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57784" y="328269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57784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76656" y="4865522"/>
            <a:ext cx="4543654" cy="707746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557784" y="543610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557784" y="5436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576072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76072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6108192" y="1005840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시나리오로 채우기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화면 편의 기능 — API 영향 없음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5760720" y="153619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607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6108192" y="1527048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재난유형 (선택 안 함 가능)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context.disasterType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5760720" y="205740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6108192" y="2048256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발생·기준일시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context.baseTime · endTime (기준지역 + 기준시각)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5760720" y="257860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6108192" y="2569464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특보종류 · 경보단계 · 키워드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context.situationKind · keywords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5760720" y="309981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6108192" y="309067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강우 1/3/6/12/24h · 수위 · 유량 · 풍속 · 습도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context.hydro — 02 핵심 표시항목(C)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→ 03 DQ-04-003 '현재조건 입력값'으로 다시 비교됨</a:t>
            </a:r>
            <a:endParaRPr lang="en-US" sz="1200" dirty="0"/>
          </a:p>
        </p:txBody>
      </p:sp>
      <p:sp>
        <p:nvSpPr>
          <p:cNvPr id="35" name="context 예시 상자"/>
          <p:cNvSpPr/>
          <p:nvPr/>
        </p:nvSpPr>
        <p:spPr>
          <a:xfrm>
            <a:off x="5760720" y="3831336"/>
            <a:ext cx="5989320" cy="1613002"/>
          </a:xfrm>
          <a:prstGeom prst="roundRect">
            <a:avLst>
              <a:gd name="adj" fmla="val 2834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36" name="context 예시"/>
          <p:cNvSpPr txBox="1"/>
          <p:nvPr/>
        </p:nvSpPr>
        <p:spPr>
          <a:xfrm>
            <a:off x="5897880" y="3968496"/>
            <a:ext cx="5715000" cy="133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"region": "busan",          // 헤더 기준지역 (항상)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"aiMode": false,             // 꺼짐 = 입력 조건만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"disasterType": "호우",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"situationKind": { "type": "호우", "level": "주의보"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["하상도로"],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"hydro": { "rain1h": 30, "waterLevel": 2.4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760720" y="549005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→ Agent 질의(T3Q-01)에 함께 실리는 context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② 기상특보 현황·질의 진입(GR-02) — 특보를 참조로 걸어 질문</a:t>
            </a:r>
            <a:endParaRPr lang="en-US" sz="2600" dirty="0"/>
          </a:p>
        </p:txBody>
      </p:sp>
      <p:pic>
        <p:nvPicPr>
          <p:cNvPr id="3" name="화면 G2_pick" descr="시범서비스 화면 캡처 (G2_pi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1190549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960120"/>
            <a:ext cx="11338560" cy="1190549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81558" y="1016813"/>
            <a:ext cx="5385816" cy="31181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62686" y="89794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62686" y="8979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10804550" y="1024128"/>
            <a:ext cx="803758" cy="28346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11471148" y="90525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11471148" y="905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9283903" y="1292962"/>
            <a:ext cx="2324405" cy="80833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11471148" y="196413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11471148" y="1964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14" name="화면 G2_ref" descr="시범서비스 화면 캡처 (G2_ref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9269"/>
            <a:ext cx="6675120" cy="3055010"/>
          </a:xfrm>
          <a:prstGeom prst="rect">
            <a:avLst/>
          </a:prstGeom>
        </p:spPr>
      </p:pic>
      <p:sp>
        <p:nvSpPr>
          <p:cNvPr id="15" name="화면 테두리"/>
          <p:cNvSpPr/>
          <p:nvPr/>
        </p:nvSpPr>
        <p:spPr>
          <a:xfrm>
            <a:off x="411480" y="2379269"/>
            <a:ext cx="6675120" cy="3055010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16" name="주석 박스 4"/>
          <p:cNvSpPr/>
          <p:nvPr/>
        </p:nvSpPr>
        <p:spPr>
          <a:xfrm>
            <a:off x="502006" y="2458822"/>
            <a:ext cx="4344314" cy="100401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7" name="주석 번호 4"/>
          <p:cNvSpPr/>
          <p:nvPr/>
        </p:nvSpPr>
        <p:spPr>
          <a:xfrm>
            <a:off x="383134" y="233995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주석 번호 글자 4"/>
          <p:cNvSpPr txBox="1"/>
          <p:nvPr/>
        </p:nvSpPr>
        <p:spPr>
          <a:xfrm>
            <a:off x="383134" y="23399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주석 박스 5"/>
          <p:cNvSpPr/>
          <p:nvPr/>
        </p:nvSpPr>
        <p:spPr>
          <a:xfrm>
            <a:off x="502006" y="3564331"/>
            <a:ext cx="4344314" cy="102138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0" name="주석 번호 5"/>
          <p:cNvSpPr/>
          <p:nvPr/>
        </p:nvSpPr>
        <p:spPr>
          <a:xfrm>
            <a:off x="383134" y="344545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주석 번호 글자 5"/>
          <p:cNvSpPr txBox="1"/>
          <p:nvPr/>
        </p:nvSpPr>
        <p:spPr>
          <a:xfrm>
            <a:off x="383134" y="34454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주석 박스 6"/>
          <p:cNvSpPr/>
          <p:nvPr/>
        </p:nvSpPr>
        <p:spPr>
          <a:xfrm>
            <a:off x="411480" y="4534510"/>
            <a:ext cx="4745736" cy="23774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3" name="주석 번호 6"/>
          <p:cNvSpPr/>
          <p:nvPr/>
        </p:nvSpPr>
        <p:spPr>
          <a:xfrm>
            <a:off x="292608" y="4635094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주석 번호 글자 6"/>
          <p:cNvSpPr txBox="1"/>
          <p:nvPr/>
        </p:nvSpPr>
        <p:spPr>
          <a:xfrm>
            <a:off x="292608" y="46350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설명 번호 1"/>
          <p:cNvSpPr/>
          <p:nvPr/>
        </p:nvSpPr>
        <p:spPr>
          <a:xfrm>
            <a:off x="7360920" y="2388413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360920" y="23884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7" name="설명 1"/>
          <p:cNvSpPr txBox="1"/>
          <p:nvPr/>
        </p:nvSpPr>
        <p:spPr>
          <a:xfrm>
            <a:off x="7708392" y="2379269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현황 (긴급 · 특보명 · 발표시각)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02 핵심 표시항목(C): 특보종류·단계·대상지역·발표/발효시각·조회상태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기상청 특보 조회 API — T3Q 상세조회 대상 아님</a:t>
            </a:r>
            <a:endParaRPr lang="en-US" sz="1200" dirty="0"/>
          </a:p>
        </p:txBody>
      </p:sp>
      <p:sp>
        <p:nvSpPr>
          <p:cNvPr id="28" name="설명 번호 2"/>
          <p:cNvSpPr/>
          <p:nvPr/>
        </p:nvSpPr>
        <p:spPr>
          <a:xfrm>
            <a:off x="7360920" y="3220517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60920" y="32205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설명 2"/>
          <p:cNvSpPr txBox="1"/>
          <p:nvPr/>
        </p:nvSpPr>
        <p:spPr>
          <a:xfrm>
            <a:off x="7708392" y="3211373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특보로 질문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진입 경로: 기준지역 특보 조회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AI 모드 중에는 비활성 (현재 특보가 자동 반영)</a:t>
            </a:r>
            <a:endParaRPr lang="en-US" sz="1200" dirty="0"/>
          </a:p>
        </p:txBody>
      </p:sp>
      <p:sp>
        <p:nvSpPr>
          <p:cNvPr id="31" name="설명 번호 3"/>
          <p:cNvSpPr/>
          <p:nvPr/>
        </p:nvSpPr>
        <p:spPr>
          <a:xfrm>
            <a:off x="7360920" y="3878885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360920" y="38788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3" name="설명 3"/>
          <p:cNvSpPr txBox="1"/>
          <p:nvPr/>
        </p:nvSpPr>
        <p:spPr>
          <a:xfrm>
            <a:off x="7708392" y="3869741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여러 건이면 특보 선택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조회·연결 식별자: 특보 식별/기준시점 정보</a:t>
            </a:r>
            <a:endParaRPr lang="en-US" sz="1200" dirty="0"/>
          </a:p>
        </p:txBody>
      </p:sp>
      <p:sp>
        <p:nvSpPr>
          <p:cNvPr id="34" name="설명 번호 4"/>
          <p:cNvSpPr/>
          <p:nvPr/>
        </p:nvSpPr>
        <p:spPr>
          <a:xfrm>
            <a:off x="7360920" y="4363517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360920" y="43635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6" name="설명 4"/>
          <p:cNvSpPr txBox="1"/>
          <p:nvPr/>
        </p:nvSpPr>
        <p:spPr>
          <a:xfrm>
            <a:off x="7708392" y="4354373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브리핑의 '적용 조건'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GR-01 입력 조건 + GR-02 참조 특보</a:t>
            </a:r>
            <a:endParaRPr lang="en-US" sz="1200" dirty="0"/>
          </a:p>
        </p:txBody>
      </p:sp>
      <p:sp>
        <p:nvSpPr>
          <p:cNvPr id="37" name="설명 번호 5"/>
          <p:cNvSpPr/>
          <p:nvPr/>
        </p:nvSpPr>
        <p:spPr>
          <a:xfrm>
            <a:off x="7360920" y="4848149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360920" y="48481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9" name="설명 5"/>
          <p:cNvSpPr txBox="1"/>
          <p:nvPr/>
        </p:nvSpPr>
        <p:spPr>
          <a:xfrm>
            <a:off x="7708392" y="4839005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기반 빠른질의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02 관련 정보 연결: 특보 기반 빠른질의</a:t>
            </a:r>
            <a:endParaRPr lang="en-US" sz="1200" dirty="0"/>
          </a:p>
        </p:txBody>
      </p:sp>
      <p:sp>
        <p:nvSpPr>
          <p:cNvPr id="40" name="설명 번호 6"/>
          <p:cNvSpPr/>
          <p:nvPr/>
        </p:nvSpPr>
        <p:spPr>
          <a:xfrm>
            <a:off x="7360920" y="5332781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360920" y="53327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2" name="설명 6"/>
          <p:cNvSpPr txBox="1"/>
          <p:nvPr/>
        </p:nvSpPr>
        <p:spPr>
          <a:xfrm>
            <a:off x="7708392" y="5323637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입력창 참조 칩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context.refAdvisory — 질문과 함께 전달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③ AI 모드 상황점검(GR-03)과 추천질문(GR-21)</a:t>
            </a:r>
            <a:endParaRPr lang="en-US" sz="2600" dirty="0"/>
          </a:p>
        </p:txBody>
      </p:sp>
      <p:pic>
        <p:nvPicPr>
          <p:cNvPr id="3" name="화면 E_aim" descr="시범서비스 화면 캡처 (E_ai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7589520" cy="363016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7589520" cy="363016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1764792" y="1237183"/>
            <a:ext cx="4026103" cy="54132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1645920" y="111831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1645920" y="111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1764792" y="1830629"/>
            <a:ext cx="4026103" cy="3831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1645920" y="207660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1645920" y="20766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5961888" y="1910182"/>
            <a:ext cx="1768450" cy="36941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7593178" y="179131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7593178" y="17913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82142" y="2745029"/>
            <a:ext cx="7048195" cy="92354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63270" y="2626157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63270" y="26261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483718" y="4008730"/>
            <a:ext cx="7444130" cy="59436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364846" y="446593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364846" y="44659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822960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8577072" y="100584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· 단계 · 발생일시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DQ-03-002 특보 안내 (+ GR-02 특보 조회)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8229600" y="176479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0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8577072" y="17556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판단 메시지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DQ-03-001 판단·근거 (필수 응답)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상황확인/대응착수 우선검토 판단 · 참조 사건/문서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8229600" y="251460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8577072" y="2505456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브리핑하기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T3Q-02 브리핑 순차 호출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8229600" y="309067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296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8577072" y="30815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추천 질문 5개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GR-21 DQ-21-001 후속 추천질문 (필수 응답)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8229600" y="38404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8577072" y="3831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자동 점검 이력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DQ-03-001 기준지역·기준시각·요청 식별자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10분 주기 + 특보 변경 시 즉시</a:t>
            </a:r>
            <a:endParaRPr lang="en-US" sz="1200" dirty="0"/>
          </a:p>
        </p:txBody>
      </p:sp>
      <p:sp>
        <p:nvSpPr>
          <p:cNvPr id="35" name="안내 상자"/>
          <p:cNvSpPr/>
          <p:nvPr/>
        </p:nvSpPr>
        <p:spPr>
          <a:xfrm>
            <a:off x="411480" y="489204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3F5F8"/>
          </a:solidFill>
          <a:ln/>
        </p:spPr>
      </p:sp>
      <p:sp>
        <p:nvSpPr>
          <p:cNvPr id="36" name="안내 문구"/>
          <p:cNvSpPr txBox="1"/>
          <p:nvPr/>
        </p:nvSpPr>
        <p:spPr>
          <a:xfrm>
            <a:off x="576072" y="4892040"/>
            <a:ext cx="726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AI 모드가 켜지면 요청 context에 aiMode와 현재 발효 특보가 함께 간다. 꺼지면 사용자가 입력한 재난상황 조건(+참조 특보)만 간다 — 같은 질문이라도 응답 기준이 달라지므로 T3Q 응답에 판단 기준(특보/입력 조건)을 표시해 달라고 요청한다.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④ 과거 사례(GR-04 ~ 09) — 재난마스터 ID로 묶는다</a:t>
            </a:r>
            <a:endParaRPr lang="en-US" sz="2600" dirty="0"/>
          </a:p>
        </p:txBody>
      </p:sp>
      <p:pic>
        <p:nvPicPr>
          <p:cNvPr id="3" name="화면 C_event_info" descr="시범서비스 화면 캡처 (C_event_inf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24977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24977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8640" y="1698955"/>
            <a:ext cx="4983480" cy="13606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29768" y="158008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29768" y="1580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6051499" y="1296619"/>
            <a:ext cx="1769364" cy="23134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5932627" y="1177747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5932627" y="11777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6088075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5969203" y="177850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5969203" y="17785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051499" y="2010766"/>
            <a:ext cx="5502859" cy="119512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932627" y="306872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932627" y="30687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763817" y="1583741"/>
            <a:ext cx="1328623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7955280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7955280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548640" y="3201314"/>
            <a:ext cx="4983480" cy="104698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429768" y="308244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429768" y="30824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8791956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9312250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9312250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주석 박스 8"/>
          <p:cNvSpPr/>
          <p:nvPr/>
        </p:nvSpPr>
        <p:spPr>
          <a:xfrm>
            <a:off x="9467698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7" name="주석 번호 8"/>
          <p:cNvSpPr/>
          <p:nvPr/>
        </p:nvSpPr>
        <p:spPr>
          <a:xfrm>
            <a:off x="9987991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주석 번호 글자 8"/>
          <p:cNvSpPr txBox="1"/>
          <p:nvPr/>
        </p:nvSpPr>
        <p:spPr>
          <a:xfrm>
            <a:off x="9987991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주석 박스 9"/>
          <p:cNvSpPr/>
          <p:nvPr/>
        </p:nvSpPr>
        <p:spPr>
          <a:xfrm>
            <a:off x="6045098" y="3273552"/>
            <a:ext cx="4448556" cy="21671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0" name="주석 번호 9"/>
          <p:cNvSpPr/>
          <p:nvPr/>
        </p:nvSpPr>
        <p:spPr>
          <a:xfrm>
            <a:off x="10356494" y="335310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주석 번호 글자 9"/>
          <p:cNvSpPr txBox="1"/>
          <p:nvPr/>
        </p:nvSpPr>
        <p:spPr>
          <a:xfrm>
            <a:off x="10356494" y="33531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설명 번호 1"/>
          <p:cNvSpPr/>
          <p:nvPr/>
        </p:nvSpPr>
        <p:spPr>
          <a:xfrm>
            <a:off x="411480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1480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4" name="설명 1"/>
          <p:cNvSpPr txBox="1"/>
          <p:nvPr/>
        </p:nvSpPr>
        <p:spPr>
          <a:xfrm>
            <a:off x="758952" y="4407408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답변 속 사건 칩 · 재난마스터 ID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GR-04 · DQ-04-001 기본정보 · DQ-04-008 사건 식별자</a:t>
            </a:r>
            <a:endParaRPr lang="en-US" sz="1200" dirty="0"/>
          </a:p>
        </p:txBody>
      </p:sp>
      <p:sp>
        <p:nvSpPr>
          <p:cNvPr id="35" name="설명 번호 2"/>
          <p:cNvSpPr/>
          <p:nvPr/>
        </p:nvSpPr>
        <p:spPr>
          <a:xfrm>
            <a:off x="4267505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267505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7" name="설명 2"/>
          <p:cNvSpPr txBox="1"/>
          <p:nvPr/>
        </p:nvSpPr>
        <p:spPr>
          <a:xfrm>
            <a:off x="4614977" y="4407408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재난유형 · 상태 · ID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DQ-04-001 재난유형 · DQ-04-005 생애주기 상태</a:t>
            </a:r>
            <a:endParaRPr lang="en-US" sz="1200" dirty="0"/>
          </a:p>
        </p:txBody>
      </p:sp>
      <p:sp>
        <p:nvSpPr>
          <p:cNvPr id="38" name="설명 번호 3"/>
          <p:cNvSpPr/>
          <p:nvPr/>
        </p:nvSpPr>
        <p:spPr>
          <a:xfrm>
            <a:off x="8123530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123530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0" name="설명 3"/>
          <p:cNvSpPr txBox="1"/>
          <p:nvPr/>
        </p:nvSpPr>
        <p:spPr>
          <a:xfrm>
            <a:off x="8471002" y="4407408"/>
            <a:ext cx="326166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유사도 근거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DQ-04-002 유사도·선정근거 (필수 응답)</a:t>
            </a:r>
            <a:endParaRPr lang="en-US" sz="1200" dirty="0"/>
          </a:p>
        </p:txBody>
      </p:sp>
      <p:sp>
        <p:nvSpPr>
          <p:cNvPr id="41" name="설명 번호 4"/>
          <p:cNvSpPr/>
          <p:nvPr/>
        </p:nvSpPr>
        <p:spPr>
          <a:xfrm>
            <a:off x="411480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3" name="설명 4"/>
          <p:cNvSpPr txBox="1"/>
          <p:nvPr/>
        </p:nvSpPr>
        <p:spPr>
          <a:xfrm>
            <a:off x="758952" y="510235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요인별 비교 (현재 ↔ 과거 · 가중치)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DQ-04-003 영향요인 비교 · DQ-04-004 근거 (필수)</a:t>
            </a:r>
            <a:endParaRPr lang="en-US" sz="1200" dirty="0"/>
          </a:p>
        </p:txBody>
      </p:sp>
      <p:sp>
        <p:nvSpPr>
          <p:cNvPr id="44" name="설명 번호 5"/>
          <p:cNvSpPr/>
          <p:nvPr/>
        </p:nvSpPr>
        <p:spPr>
          <a:xfrm>
            <a:off x="4267505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267505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6" name="설명 5"/>
          <p:cNvSpPr txBox="1"/>
          <p:nvPr/>
        </p:nvSpPr>
        <p:spPr>
          <a:xfrm>
            <a:off x="4614977" y="510235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기본정보 · 피해·복구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DQ-04-006·007 · GR-05 DQ-05-004·007·012·013</a:t>
            </a:r>
            <a:endParaRPr lang="en-US" sz="1200" dirty="0"/>
          </a:p>
        </p:txBody>
      </p:sp>
      <p:sp>
        <p:nvSpPr>
          <p:cNvPr id="47" name="설명 번호 6"/>
          <p:cNvSpPr/>
          <p:nvPr/>
        </p:nvSpPr>
        <p:spPr>
          <a:xfrm>
            <a:off x="8123530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12353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9" name="설명 6"/>
          <p:cNvSpPr txBox="1"/>
          <p:nvPr/>
        </p:nvSpPr>
        <p:spPr>
          <a:xfrm>
            <a:off x="8471002" y="5102352"/>
            <a:ext cx="326166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침수흔적 목록 · 침수흔적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GR-09 DQ-09-001~004</a:t>
            </a:r>
            <a:endParaRPr lang="en-US" sz="1200" dirty="0"/>
          </a:p>
        </p:txBody>
      </p:sp>
      <p:sp>
        <p:nvSpPr>
          <p:cNvPr id="50" name="설명 번호 7"/>
          <p:cNvSpPr/>
          <p:nvPr/>
        </p:nvSpPr>
        <p:spPr>
          <a:xfrm>
            <a:off x="411480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1148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52" name="설명 7"/>
          <p:cNvSpPr txBox="1"/>
          <p:nvPr/>
        </p:nvSpPr>
        <p:spPr>
          <a:xfrm>
            <a:off x="758952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사건 이력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GR-05 DQ-05-001~006·009~011 · 119 = GR-08 DQ-08-001~007</a:t>
            </a:r>
            <a:endParaRPr lang="en-US" sz="1200" dirty="0"/>
          </a:p>
        </p:txBody>
      </p:sp>
      <p:sp>
        <p:nvSpPr>
          <p:cNvPr id="53" name="설명 번호 8"/>
          <p:cNvSpPr/>
          <p:nvPr/>
        </p:nvSpPr>
        <p:spPr>
          <a:xfrm>
            <a:off x="4267505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267505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5" name="설명 8"/>
          <p:cNvSpPr txBox="1"/>
          <p:nvPr/>
        </p:nvSpPr>
        <p:spPr>
          <a:xfrm>
            <a:off x="4614977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위성영상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GR-07 DQ-07-001~007 (없으면 미보유 사유 DQ-07-007)</a:t>
            </a:r>
            <a:endParaRPr lang="en-US" sz="1200" dirty="0"/>
          </a:p>
        </p:txBody>
      </p:sp>
      <p:sp>
        <p:nvSpPr>
          <p:cNvPr id="56" name="설명 번호 9"/>
          <p:cNvSpPr/>
          <p:nvPr/>
        </p:nvSpPr>
        <p:spPr>
          <a:xfrm>
            <a:off x="8123530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12353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58" name="설명 9"/>
          <p:cNvSpPr txBox="1"/>
          <p:nvPr/>
        </p:nvSpPr>
        <p:spPr>
          <a:xfrm>
            <a:off x="8471002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출처 데이터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DQ-04-008 출처·품질상태 · GR-19 DQ-19-001 공통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⑤ 위험·취약 대상(GR-10) — 목록에서 상세로, 근거·지도로</a:t>
            </a:r>
            <a:endParaRPr lang="en-US" sz="2600" dirty="0"/>
          </a:p>
        </p:txBody>
      </p:sp>
      <p:pic>
        <p:nvPicPr>
          <p:cNvPr id="3" name="화면 B_detail_sum" descr="시범서비스 화면 캡처 (B_detail_su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53872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53872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8640" y="1062533"/>
            <a:ext cx="2021738" cy="30358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29768" y="94366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29768" y="9436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8640" y="1380744"/>
            <a:ext cx="4983480" cy="50566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9768" y="126187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976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4657954" y="1062533"/>
            <a:ext cx="874166" cy="30358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5394960" y="94366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5394960" y="9436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548640" y="3962095"/>
            <a:ext cx="4983480" cy="50566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429768" y="384322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429768" y="38432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051499" y="3395167"/>
            <a:ext cx="5502859" cy="413309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5932627" y="327629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5932627" y="3276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6051499" y="4068166"/>
            <a:ext cx="5502859" cy="3895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5932627" y="3949294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5932627" y="39492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5907024" y="1005840"/>
            <a:ext cx="5791810" cy="204277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11561674" y="88696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11561674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설명 번호 1"/>
          <p:cNvSpPr/>
          <p:nvPr/>
        </p:nvSpPr>
        <p:spPr>
          <a:xfrm>
            <a:off x="41148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1148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8" name="설명 1"/>
          <p:cNvSpPr txBox="1"/>
          <p:nvPr/>
        </p:nvSpPr>
        <p:spPr>
          <a:xfrm>
            <a:off x="758952" y="4709160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대상그룹(A) · 선택 대상(B)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GR-10 법정·계획상 위험·취약지역 / 급경사지 등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Agent가 돌려준 객체 ID를 유형별 탭으로</a:t>
            </a:r>
            <a:endParaRPr lang="en-US" sz="1200" dirty="0"/>
          </a:p>
        </p:txBody>
      </p:sp>
      <p:sp>
        <p:nvSpPr>
          <p:cNvPr id="29" name="설명 번호 2"/>
          <p:cNvSpPr/>
          <p:nvPr/>
        </p:nvSpPr>
        <p:spPr>
          <a:xfrm>
            <a:off x="3303727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303727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1" name="설명 2"/>
          <p:cNvSpPr txBox="1"/>
          <p:nvPr/>
        </p:nvSpPr>
        <p:spPr>
          <a:xfrm>
            <a:off x="3651199" y="4709160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핵심 표시항목(C)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명칭·유형·행정구역·지정/평가정보·자료 기준일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목록 API 응답만으로 이 한 줄이 그려져야 함</a:t>
            </a:r>
            <a:endParaRPr lang="en-US" sz="1200" dirty="0"/>
          </a:p>
        </p:txBody>
      </p:sp>
      <p:sp>
        <p:nvSpPr>
          <p:cNvPr id="32" name="설명 번호 3"/>
          <p:cNvSpPr/>
          <p:nvPr/>
        </p:nvSpPr>
        <p:spPr>
          <a:xfrm>
            <a:off x="6195974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195974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4" name="설명 3"/>
          <p:cNvSpPr txBox="1"/>
          <p:nvPr/>
        </p:nvSpPr>
        <p:spPr>
          <a:xfrm>
            <a:off x="6543446" y="4709160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지도 연결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공간객체·지도 연결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공간객체 ID가 오면 지도에서 보기</a:t>
            </a:r>
            <a:endParaRPr lang="en-US" sz="1200" dirty="0"/>
          </a:p>
        </p:txBody>
      </p:sp>
      <p:sp>
        <p:nvSpPr>
          <p:cNvPr id="35" name="설명 번호 4"/>
          <p:cNvSpPr/>
          <p:nvPr/>
        </p:nvSpPr>
        <p:spPr>
          <a:xfrm>
            <a:off x="9088222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88222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7" name="설명 4"/>
          <p:cNvSpPr txBox="1"/>
          <p:nvPr/>
        </p:nvSpPr>
        <p:spPr>
          <a:xfrm>
            <a:off x="9435694" y="4709160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근거 칩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GR-06 근거문서·Passage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답변·목록 어디서든 같은 근거 뷰어</a:t>
            </a:r>
            <a:endParaRPr lang="en-US" sz="1200" dirty="0"/>
          </a:p>
        </p:txBody>
      </p:sp>
      <p:sp>
        <p:nvSpPr>
          <p:cNvPr id="38" name="설명 번호 5"/>
          <p:cNvSpPr/>
          <p:nvPr/>
        </p:nvSpPr>
        <p:spPr>
          <a:xfrm>
            <a:off x="411480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1148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0" name="설명 5"/>
          <p:cNvSpPr txBox="1"/>
          <p:nvPr/>
        </p:nvSpPr>
        <p:spPr>
          <a:xfrm>
            <a:off x="758952" y="5751576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진입 경로 → 상세조회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'Agent가 해당 유형의 객체 ID를 반환'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조회·연결 식별자: 대상유형 + 객체 ID / 원천 관리번호</a:t>
            </a:r>
            <a:endParaRPr lang="en-US" sz="1200" dirty="0"/>
          </a:p>
        </p:txBody>
      </p:sp>
      <p:sp>
        <p:nvSpPr>
          <p:cNvPr id="41" name="설명 번호 6"/>
          <p:cNvSpPr/>
          <p:nvPr/>
        </p:nvSpPr>
        <p:spPr>
          <a:xfrm>
            <a:off x="3303727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303727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3" name="설명 6"/>
          <p:cNvSpPr txBox="1"/>
          <p:nvPr/>
        </p:nvSpPr>
        <p:spPr>
          <a:xfrm>
            <a:off x="3651199" y="5751576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핵심 표시항목 상세(D)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03 연결 ID DQ-10-001 ~ 029 (다음 장)</a:t>
            </a:r>
            <a:endParaRPr lang="en-US" sz="1200" dirty="0"/>
          </a:p>
        </p:txBody>
      </p:sp>
      <p:sp>
        <p:nvSpPr>
          <p:cNvPr id="44" name="설명 번호 7"/>
          <p:cNvSpPr/>
          <p:nvPr/>
        </p:nvSpPr>
        <p:spPr>
          <a:xfrm>
            <a:off x="6195974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195974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46" name="설명 7"/>
          <p:cNvSpPr txBox="1"/>
          <p:nvPr/>
        </p:nvSpPr>
        <p:spPr>
          <a:xfrm>
            <a:off x="6543446" y="5751576"/>
            <a:ext cx="2297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상세 ↔ 지도 동기화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DQ-20-001~004 · spatial_object_id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좌표가 아니라 공간객체 ID로 연결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⑥ 위험·취약지역 상세 — 탭마다 03 시트의 정보 제공 묶음(DQ-10)</a:t>
            </a:r>
            <a:endParaRPr lang="en-US" sz="2600" dirty="0"/>
          </a:p>
        </p:txBody>
      </p:sp>
      <p:pic>
        <p:nvPicPr>
          <p:cNvPr id="3" name="화면 B_detail_risk" descr="시범서비스 화면 캡처 (B_detail_ris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6629400" cy="4402836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6629400" cy="4402836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83387" y="1095451"/>
            <a:ext cx="6236208" cy="46817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64515" y="97657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64515" y="976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83387" y="1563624"/>
            <a:ext cx="1555394" cy="26151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64515" y="168798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64515" y="16879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2244852" y="1586484"/>
            <a:ext cx="785470" cy="21305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2893162" y="146761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2893162" y="1467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1389888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1271016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1271016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583387" y="2374697"/>
            <a:ext cx="6236208" cy="153893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464515" y="377647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464515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2156155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2764231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2764231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2922422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3530498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3530498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주석 박스 8"/>
          <p:cNvSpPr/>
          <p:nvPr/>
        </p:nvSpPr>
        <p:spPr>
          <a:xfrm>
            <a:off x="3688690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7" name="주석 번호 8"/>
          <p:cNvSpPr/>
          <p:nvPr/>
        </p:nvSpPr>
        <p:spPr>
          <a:xfrm>
            <a:off x="4296766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주석 번호 글자 8"/>
          <p:cNvSpPr txBox="1"/>
          <p:nvPr/>
        </p:nvSpPr>
        <p:spPr>
          <a:xfrm>
            <a:off x="4296766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주석 박스 9"/>
          <p:cNvSpPr/>
          <p:nvPr/>
        </p:nvSpPr>
        <p:spPr>
          <a:xfrm>
            <a:off x="4454957" y="1890065"/>
            <a:ext cx="2266798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0" name="주석 번호 9"/>
          <p:cNvSpPr/>
          <p:nvPr/>
        </p:nvSpPr>
        <p:spPr>
          <a:xfrm>
            <a:off x="6584594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주석 번호 글자 9"/>
          <p:cNvSpPr txBox="1"/>
          <p:nvPr/>
        </p:nvSpPr>
        <p:spPr>
          <a:xfrm>
            <a:off x="6584594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주석 박스 10"/>
          <p:cNvSpPr/>
          <p:nvPr/>
        </p:nvSpPr>
        <p:spPr>
          <a:xfrm>
            <a:off x="624535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3" name="주석 번호 10"/>
          <p:cNvSpPr/>
          <p:nvPr/>
        </p:nvSpPr>
        <p:spPr>
          <a:xfrm>
            <a:off x="505663" y="212963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주석 번호 글자 10"/>
          <p:cNvSpPr txBox="1"/>
          <p:nvPr/>
        </p:nvSpPr>
        <p:spPr>
          <a:xfrm>
            <a:off x="505663" y="21296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설명 번호 1"/>
          <p:cNvSpPr/>
          <p:nvPr/>
        </p:nvSpPr>
        <p:spPr>
          <a:xfrm>
            <a:off x="731520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31520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설명 1"/>
          <p:cNvSpPr txBox="1"/>
          <p:nvPr/>
        </p:nvSpPr>
        <p:spPr>
          <a:xfrm>
            <a:off x="7662672" y="1005840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명칭 · 유형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DQ-10-001 기본정보 · 필수 응답</a:t>
            </a:r>
            <a:endParaRPr lang="en-US" sz="1200" dirty="0"/>
          </a:p>
        </p:txBody>
      </p:sp>
      <p:sp>
        <p:nvSpPr>
          <p:cNvPr id="38" name="설명 번호 2"/>
          <p:cNvSpPr/>
          <p:nvPr/>
        </p:nvSpPr>
        <p:spPr>
          <a:xfrm>
            <a:off x="7315200" y="149961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31520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40" name="설명 2"/>
          <p:cNvSpPr txBox="1"/>
          <p:nvPr/>
        </p:nvSpPr>
        <p:spPr>
          <a:xfrm>
            <a:off x="7662672" y="1490472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등급 · 위험수준 · 정비 상태 배지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DQ-10-001 위험등급 · DQ-10-009 재해위험도 등급·점수</a:t>
            </a:r>
            <a:endParaRPr lang="en-US" sz="1200" dirty="0"/>
          </a:p>
        </p:txBody>
      </p:sp>
      <p:sp>
        <p:nvSpPr>
          <p:cNvPr id="41" name="설명 번호 3"/>
          <p:cNvSpPr/>
          <p:nvPr/>
        </p:nvSpPr>
        <p:spPr>
          <a:xfrm>
            <a:off x="7315200" y="19842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31520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3" name="설명 3"/>
          <p:cNvSpPr txBox="1"/>
          <p:nvPr/>
        </p:nvSpPr>
        <p:spPr>
          <a:xfrm>
            <a:off x="7662672" y="1975104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ID — 조회·연결 식별자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대상유형 + 객체 ID + 원천 관리번호 · DQ-10-012 연계키</a:t>
            </a:r>
            <a:endParaRPr lang="en-US" sz="1200" dirty="0"/>
          </a:p>
        </p:txBody>
      </p:sp>
      <p:sp>
        <p:nvSpPr>
          <p:cNvPr id="44" name="설명 번호 4"/>
          <p:cNvSpPr/>
          <p:nvPr/>
        </p:nvSpPr>
        <p:spPr>
          <a:xfrm>
            <a:off x="7315200" y="24688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31520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6" name="설명 4"/>
          <p:cNvSpPr txBox="1"/>
          <p:nvPr/>
        </p:nvSpPr>
        <p:spPr>
          <a:xfrm>
            <a:off x="7662672" y="2459736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위험·취약정보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DQ-10-002 지정 · DQ-10-003 규모·핵심 위험조건</a:t>
            </a:r>
            <a:endParaRPr lang="en-US" sz="1200" dirty="0"/>
          </a:p>
        </p:txBody>
      </p:sp>
      <p:sp>
        <p:nvSpPr>
          <p:cNvPr id="47" name="설명 번호 5"/>
          <p:cNvSpPr/>
          <p:nvPr/>
        </p:nvSpPr>
        <p:spPr>
          <a:xfrm>
            <a:off x="7315200" y="29535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31520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9" name="설명 5"/>
          <p:cNvSpPr txBox="1"/>
          <p:nvPr/>
        </p:nvSpPr>
        <p:spPr>
          <a:xfrm>
            <a:off x="7662672" y="2944368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탭 안의 항목 하나하나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'요청 상세정보 항목(D)'의 / 로 나뉜 값 하나 = 한 줄</a:t>
            </a:r>
            <a:endParaRPr lang="en-US" sz="1200" dirty="0"/>
          </a:p>
        </p:txBody>
      </p:sp>
      <p:sp>
        <p:nvSpPr>
          <p:cNvPr id="50" name="설명 번호 6"/>
          <p:cNvSpPr/>
          <p:nvPr/>
        </p:nvSpPr>
        <p:spPr>
          <a:xfrm>
            <a:off x="7315200" y="343814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31520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52" name="설명 6"/>
          <p:cNvSpPr txBox="1"/>
          <p:nvPr/>
        </p:nvSpPr>
        <p:spPr>
          <a:xfrm>
            <a:off x="7662672" y="3429000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관리정보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DQ-10-005 관리 · DQ-10-010 위치</a:t>
            </a:r>
            <a:endParaRPr lang="en-US" sz="1200" dirty="0"/>
          </a:p>
        </p:txBody>
      </p:sp>
      <p:sp>
        <p:nvSpPr>
          <p:cNvPr id="53" name="설명 번호 7"/>
          <p:cNvSpPr/>
          <p:nvPr/>
        </p:nvSpPr>
        <p:spPr>
          <a:xfrm>
            <a:off x="7315200" y="392277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31520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55" name="설명 7"/>
          <p:cNvSpPr txBox="1"/>
          <p:nvPr/>
        </p:nvSpPr>
        <p:spPr>
          <a:xfrm>
            <a:off x="7662672" y="39136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정비계획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DQ-10-004 정비 · DQ-10-011 정비사업 · DQ-10-016 준공</a:t>
            </a:r>
            <a:endParaRPr lang="en-US" sz="1200" dirty="0"/>
          </a:p>
        </p:txBody>
      </p:sp>
      <p:sp>
        <p:nvSpPr>
          <p:cNvPr id="56" name="설명 번호 8"/>
          <p:cNvSpPr/>
          <p:nvPr/>
        </p:nvSpPr>
        <p:spPr>
          <a:xfrm>
            <a:off x="7315200" y="458114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7315200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8" name="설명 8"/>
          <p:cNvSpPr txBox="1"/>
          <p:nvPr/>
        </p:nvSpPr>
        <p:spPr>
          <a:xfrm>
            <a:off x="7662672" y="457200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피해 이력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DQ-10-005 과거 사건 · DQ-10-013~015 지정·점검·조사 이력</a:t>
            </a:r>
            <a:endParaRPr lang="en-US" sz="1200" dirty="0"/>
          </a:p>
        </p:txBody>
      </p:sp>
      <p:sp>
        <p:nvSpPr>
          <p:cNvPr id="59" name="설명 번호 9"/>
          <p:cNvSpPr/>
          <p:nvPr/>
        </p:nvSpPr>
        <p:spPr>
          <a:xfrm>
            <a:off x="7315200" y="52395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315200" y="5239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61" name="설명 9"/>
          <p:cNvSpPr txBox="1"/>
          <p:nvPr/>
        </p:nvSpPr>
        <p:spPr>
          <a:xfrm>
            <a:off x="7662672" y="523036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공간·근거 · 연관 객체 · 근거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DQ-20-001~004 · GR-06 DQ-06-001~005</a:t>
            </a:r>
            <a:endParaRPr lang="en-US" sz="1200" dirty="0"/>
          </a:p>
        </p:txBody>
      </p:sp>
      <p:sp>
        <p:nvSpPr>
          <p:cNvPr id="62" name="설명 번호 10"/>
          <p:cNvSpPr/>
          <p:nvPr/>
        </p:nvSpPr>
        <p:spPr>
          <a:xfrm>
            <a:off x="7315200" y="58978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315200" y="5897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</a:t>
            </a:r>
            <a:endParaRPr lang="en-US" sz="1050" dirty="0"/>
          </a:p>
        </p:txBody>
      </p:sp>
      <p:sp>
        <p:nvSpPr>
          <p:cNvPr id="64" name="설명 10"/>
          <p:cNvSpPr txBox="1"/>
          <p:nvPr/>
        </p:nvSpPr>
        <p:spPr>
          <a:xfrm>
            <a:off x="7662672" y="588873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요약 (어디·왜·언제·무엇)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Agent 조합 칸 — 원천값 아님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DQ-10-003 위험조건 + GR-18 매뉴얼 절차를 엮어 보여줌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⑦ 행동매뉴얼 대응절차(GR-18)와 근거문서(GR-06)</a:t>
            </a:r>
            <a:endParaRPr lang="en-US" sz="2600" dirty="0"/>
          </a:p>
        </p:txBody>
      </p:sp>
      <p:pic>
        <p:nvPicPr>
          <p:cNvPr id="3" name="화면 D_manual" descr="시범서비스 화면 캡처 (D_manu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53872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53872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4469587" y="1085393"/>
            <a:ext cx="1199693" cy="23134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5532120" y="96652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5532120" y="9665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8640" y="2457907"/>
            <a:ext cx="4983480" cy="91897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9768" y="233903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9768" y="23390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418795" y="3419856"/>
            <a:ext cx="5243170" cy="10689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299923" y="435163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299923" y="4351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045098" y="1207922"/>
            <a:ext cx="5489143" cy="86685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11397082" y="108905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11397082" y="10890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045098" y="2341778"/>
            <a:ext cx="5489143" cy="144475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11397082" y="364937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11397082" y="36493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41148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1148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758952" y="4709160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질문에 참조로 건 특보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GR-02 → context.refAdvisory (응답 항목 아님)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4267505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67505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4614977" y="4709160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단계 판단 (비상2단계)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DQ-18-002 단계·비상근무 · DQ-18-004 발동조건·판단 근거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812353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353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8471002" y="4709160"/>
            <a:ext cx="326166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지금 할 일 — 순서·담당·시기·쪽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DQ-18-003 업무 · DQ-18-005 담당·협업 · DQ-18-006 진행 관계 · DQ-17-004 매뉴얼명·쪽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0917 목록에 매뉴얼 프로세스 API가 없음 → 신규 필요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411480" y="593445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11480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758952" y="592531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근거 문서 정보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GR-06 DQ-06-001 문서 · DQ-06-005 공개등급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4267505" y="593445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267505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4614977" y="592531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인용 위치와 원문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DQ-06-002 인용 페이지·Passage · DQ-18-008 추출 근거·품질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API 요청서에 담는 법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1차 요청서(0917) T3Q-15 「위험·취약 대상 상세」를 03 시트 기준으로 고친 샘플 — 대상: GR-10 급경사지·붕괴위험지역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0917 T3Q-15와 03 시트의 차이 — 무엇을 고치나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40233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관점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0917 T3Q-15 (현재)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03 시트가 요구하는 것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고치는 방법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요구사항 추적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응답에 DQ 표시 없음 (근거 기능 ID만 표기)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정보 제공 그룹 ID(DQ-GG-NNN) 단위로 요청·회신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섹션마다 dq_id · group_id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항목 범위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공통 attributes 8개 (지정사유·위험도세부·예상피해·정비사업 …)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하위유형 전용 묶음: 급경사지 DQ-10-009~016 (점검·조사평가·준공 이력)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object_type별 섹션 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값 형태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"위험도지수 78점(A 32 · B 28 · C 18)" 문장 한 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등급·점수·가구·인구를 각각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값·단위 분리 (숫자는 숫자로)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응답 요청 기준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grade에만 status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필수 응답 / 원천값 요청 / 추가 협의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섹션 basis + 필드 provision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object_id = spatial_object_id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대상유형 + 객체 ID + 원천 관리번호 (+ 공간객체 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target 블록 4개 키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정보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evidence_refs만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02 관련 정보 연결: GR-06 근거 · GR-09 침수 · GR-20 지도 · 사건 GR-04·05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links 블록 (그룹별 ID 목록)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원천 / 가공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data_nature 객체 단위 1개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GR-19 DQ-19-001: 제공상태·출처·자료 기준시점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필드 nature + as_of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안내 상자"/>
          <p:cNvSpPr/>
          <p:nvPr/>
        </p:nvSpPr>
        <p:spPr>
          <a:xfrm>
            <a:off x="411480" y="54406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/>
        </p:spPr>
      </p:sp>
      <p:sp>
        <p:nvSpPr>
          <p:cNvPr id="5" name="안내 문구"/>
          <p:cNvSpPr txBox="1"/>
          <p:nvPr/>
        </p:nvSpPr>
        <p:spPr>
          <a:xfrm>
            <a:off x="576072" y="5440680"/>
            <a:ext cx="11009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그대로 유지할 0917의 좋은 점 — 공통 봉투(status · data_gaps · warnings · meta) · 좌표 대신 spatial_object_id · 현재 정비 상태를 모르면 UNKNOWN(LLM 추론 금지) · importance로 표출 순서 지정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개정 샘플 ① — 요청과 응답의 뼈대</a:t>
            </a:r>
            <a:endParaRPr lang="en-US" sz="2600" dirty="0"/>
          </a:p>
        </p:txBody>
      </p:sp>
      <p:sp>
        <p:nvSpPr>
          <p:cNvPr id="3" name="코드 상자"/>
          <p:cNvSpPr/>
          <p:nvPr/>
        </p:nvSpPr>
        <p:spPr>
          <a:xfrm>
            <a:off x="640080" y="1051560"/>
            <a:ext cx="7178040" cy="4959706"/>
          </a:xfrm>
          <a:prstGeom prst="roundRect">
            <a:avLst>
              <a:gd name="adj" fmla="val 922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4" name="JSON 샘플"/>
          <p:cNvSpPr txBox="1"/>
          <p:nvPr/>
        </p:nvSpPr>
        <p:spPr>
          <a:xfrm>
            <a:off x="777240" y="1188720"/>
            <a:ext cx="6949440" cy="468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/v1/risk-objects/CL-00015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?object_type=STEEP_SLOPE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&amp;sections=basic,risk,designation,maintenance,history,links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"1.1",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"request_id": "REQ-20261003-000215",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"PARTIAL_SUCCESS",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"group_id": "GR-10",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"object_type": "STEEP_SLOPE",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"object_id": "CL-00015",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"source_mgmt_no": "&lt;원천 관리번호&gt;",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"spatial_object_id": "SP-CL-00015"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"sections":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"DQ-10-001", "label": "기본정보", "basis": "REQUIRED",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"name", "label": "위험지역명",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"value": "영선2-1 붕괴위험지역(급경사지)",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"provision": "PROVIDED", "nature": "SOURCE"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"risk_grade", "label": "위험등급", "value": "E", …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"address", "value": "부산 영도구 영선동4가 186-28 일원",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"admin_code": "2620055000", …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A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… (다음 장) …</a:t>
            </a:r>
            <a:endParaRPr lang="en-US" sz="1000" dirty="0"/>
          </a:p>
        </p:txBody>
      </p:sp>
      <p:sp>
        <p:nvSpPr>
          <p:cNvPr id="5" name="코드 번호 1"/>
          <p:cNvSpPr/>
          <p:nvPr/>
        </p:nvSpPr>
        <p:spPr>
          <a:xfrm>
            <a:off x="347472" y="1328623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" y="13286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코드 번호 2"/>
          <p:cNvSpPr/>
          <p:nvPr/>
        </p:nvSpPr>
        <p:spPr>
          <a:xfrm>
            <a:off x="347472" y="2499970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24999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코드 번호 3"/>
          <p:cNvSpPr/>
          <p:nvPr/>
        </p:nvSpPr>
        <p:spPr>
          <a:xfrm>
            <a:off x="347472" y="2834640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" y="2834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코드 번호 4"/>
          <p:cNvSpPr/>
          <p:nvPr/>
        </p:nvSpPr>
        <p:spPr>
          <a:xfrm>
            <a:off x="347472" y="417332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" y="417332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코드 번호 5"/>
          <p:cNvSpPr/>
          <p:nvPr/>
        </p:nvSpPr>
        <p:spPr>
          <a:xfrm>
            <a:off x="347472" y="484266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" y="484266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설명 번호 1"/>
          <p:cNvSpPr/>
          <p:nvPr/>
        </p:nvSpPr>
        <p:spPr>
          <a:xfrm>
            <a:off x="8183880" y="10698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7" name="설명 1"/>
          <p:cNvSpPr txBox="1"/>
          <p:nvPr/>
        </p:nvSpPr>
        <p:spPr>
          <a:xfrm>
            <a:off x="8531352" y="105156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요청할 탭만 고른다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sections = 화면 탭 = 03 '조회 내용 구분'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필요한 섹션만 받아 응답을 가볍게</a:t>
            </a:r>
            <a:endParaRPr lang="en-US" sz="1200" dirty="0"/>
          </a:p>
        </p:txBody>
      </p:sp>
      <p:sp>
        <p:nvSpPr>
          <p:cNvPr id="18" name="설명 번호 2"/>
          <p:cNvSpPr/>
          <p:nvPr/>
        </p:nvSpPr>
        <p:spPr>
          <a:xfrm>
            <a:off x="8183880" y="177393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0" name="설명 2"/>
          <p:cNvSpPr txBox="1"/>
          <p:nvPr/>
        </p:nvSpPr>
        <p:spPr>
          <a:xfrm>
            <a:off x="8531352" y="1755648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일부만 있으면 PARTIAL_SUCCESS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공통규약 status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없는 묶음은 data_gaps에 dq_id로 남김</a:t>
            </a:r>
            <a:endParaRPr lang="en-US" sz="1200" dirty="0"/>
          </a:p>
        </p:txBody>
      </p:sp>
      <p:sp>
        <p:nvSpPr>
          <p:cNvPr id="21" name="설명 번호 3"/>
          <p:cNvSpPr/>
          <p:nvPr/>
        </p:nvSpPr>
        <p:spPr>
          <a:xfrm>
            <a:off x="8183880" y="247802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8388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설명 3"/>
          <p:cNvSpPr txBox="1"/>
          <p:nvPr/>
        </p:nvSpPr>
        <p:spPr>
          <a:xfrm>
            <a:off x="8531352" y="2459736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그룹 + 식별자를 한 블록에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02 그룹 ID · 03 '조회·연결 식별자'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대상유형 + 객체 ID + 원천 관리번호 + 공간객체 ID</a:t>
            </a:r>
            <a:endParaRPr lang="en-US" sz="1200" dirty="0"/>
          </a:p>
        </p:txBody>
      </p:sp>
      <p:sp>
        <p:nvSpPr>
          <p:cNvPr id="24" name="설명 번호 4"/>
          <p:cNvSpPr/>
          <p:nvPr/>
        </p:nvSpPr>
        <p:spPr>
          <a:xfrm>
            <a:off x="8183880" y="31821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6" name="설명 4"/>
          <p:cNvSpPr txBox="1"/>
          <p:nvPr/>
        </p:nvSpPr>
        <p:spPr>
          <a:xfrm>
            <a:off x="8531352" y="3163824"/>
            <a:ext cx="3264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섹션 = 03 시트 한 행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dq_id · label · basis(응답 요청 기준)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REQUIRED = 필수 응답 / SOURCE = 원천값 요청 / TBD = 추가 협의</a:t>
            </a:r>
            <a:endParaRPr lang="en-US" sz="1200" dirty="0"/>
          </a:p>
        </p:txBody>
      </p:sp>
      <p:sp>
        <p:nvSpPr>
          <p:cNvPr id="27" name="설명 번호 5"/>
          <p:cNvSpPr/>
          <p:nvPr/>
        </p:nvSpPr>
        <p:spPr>
          <a:xfrm>
            <a:off x="8183880" y="40690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838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설명 5"/>
          <p:cNvSpPr txBox="1"/>
          <p:nvPr/>
        </p:nvSpPr>
        <p:spPr>
          <a:xfrm>
            <a:off x="8531352" y="4050792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필드마다 제공 상태·원천 여부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provision · nature (GR-19 DQ-19-001)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빈칸이면 '미수집'인지 '해당 없음'인지 구분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144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590B"/>
                </a:solidFill>
              </a:rPr>
              <a:t>주황 굵은 줄</a:t>
            </a:r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 = 0917 대비 추가·변경 · 값은 시범서비스 시드 기준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개정 샘플 ② — 하위유형 항목 · 없는 값 · 연결 ID</a:t>
            </a:r>
            <a:endParaRPr lang="en-US" sz="2600" dirty="0"/>
          </a:p>
        </p:txBody>
      </p:sp>
      <p:sp>
        <p:nvSpPr>
          <p:cNvPr id="3" name="코드 상자"/>
          <p:cNvSpPr/>
          <p:nvPr/>
        </p:nvSpPr>
        <p:spPr>
          <a:xfrm>
            <a:off x="640080" y="1051560"/>
            <a:ext cx="7178040" cy="5127041"/>
          </a:xfrm>
          <a:prstGeom prst="roundRect">
            <a:avLst>
              <a:gd name="adj" fmla="val 892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4" name="JSON 샘플"/>
          <p:cNvSpPr txBox="1"/>
          <p:nvPr/>
        </p:nvSpPr>
        <p:spPr>
          <a:xfrm>
            <a:off x="777240" y="1188720"/>
            <a:ext cx="6949440" cy="485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"DQ-10-009", "label": "시설·위험정보", "basis": "SOURCE",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"risk_score", "value": 83, "unit": "점"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"households", "value": 80, "unit": "가구"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"population", "value": 144, "unit": "명"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"last_inspection", "value": null,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"provision": "NOT_COLLECTED", "reason": "SOURCE_NOT_COLLECTED"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"DQ-10-011", "label": "정비사업", "basis": "SOURCE",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"reinforcement", "value": "사면정비(앵커+돌붙임)"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"plan_status", "value": "진행", "as_of": "2026-02-28"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"total_cost", "value": 12552, "unit": "백만원"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"current_status": { "status": "UNKNOWN", "as_of": null }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"DQ-10-013", "label": "지정이력",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"items": [ { "designated_on": "2020-02-26", "area_m2": 7786 }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"DQ-10-014", "label": "점검이력", "items": [],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"provision": "NOT_COLLECTED"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"links":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"GR-06": ["DOC-SLOPE-MTP-2630#row33"],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"GR-04": ["1005-20220903-01"],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"GR-09": []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"data_gaps": [ { "dq_id": "DQ-10-014", "reason": "SOURCE_NOT_COLLECTED" }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"source": "T3Q", "quality_status": "VERIFIED", …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코드 번호 1"/>
          <p:cNvSpPr/>
          <p:nvPr/>
        </p:nvSpPr>
        <p:spPr>
          <a:xfrm>
            <a:off x="347472" y="1161288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코드 번호 2"/>
          <p:cNvSpPr/>
          <p:nvPr/>
        </p:nvSpPr>
        <p:spPr>
          <a:xfrm>
            <a:off x="347472" y="1495958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49595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코드 번호 3"/>
          <p:cNvSpPr/>
          <p:nvPr/>
        </p:nvSpPr>
        <p:spPr>
          <a:xfrm>
            <a:off x="347472" y="1997964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" y="19979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코드 번호 4"/>
          <p:cNvSpPr/>
          <p:nvPr/>
        </p:nvSpPr>
        <p:spPr>
          <a:xfrm>
            <a:off x="347472" y="3001975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" y="300197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코드 번호 5"/>
          <p:cNvSpPr/>
          <p:nvPr/>
        </p:nvSpPr>
        <p:spPr>
          <a:xfrm>
            <a:off x="347472" y="3671316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" y="36713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코드 번호 6"/>
          <p:cNvSpPr/>
          <p:nvPr/>
        </p:nvSpPr>
        <p:spPr>
          <a:xfrm>
            <a:off x="347472" y="450799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" y="4507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7" name="설명 번호 1"/>
          <p:cNvSpPr/>
          <p:nvPr/>
        </p:nvSpPr>
        <p:spPr>
          <a:xfrm>
            <a:off x="8183880" y="10698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9" name="설명 1"/>
          <p:cNvSpPr txBox="1"/>
          <p:nvPr/>
        </p:nvSpPr>
        <p:spPr>
          <a:xfrm>
            <a:off x="8531352" y="105156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급경사지 전용 묶음을 별도 섹션으로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DQ-10-009 · 0917에 없던 항목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공통 attributes에 섞지 않는다</a:t>
            </a:r>
            <a:endParaRPr lang="en-US" sz="1200" dirty="0"/>
          </a:p>
        </p:txBody>
      </p:sp>
      <p:sp>
        <p:nvSpPr>
          <p:cNvPr id="20" name="설명 번호 2"/>
          <p:cNvSpPr/>
          <p:nvPr/>
        </p:nvSpPr>
        <p:spPr>
          <a:xfrm>
            <a:off x="8183880" y="177393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2" name="설명 2"/>
          <p:cNvSpPr txBox="1"/>
          <p:nvPr/>
        </p:nvSpPr>
        <p:spPr>
          <a:xfrm>
            <a:off x="8531352" y="1755648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값은 쪼갠다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숫자 + 단위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"83점, 80가구·144명" 문장 대신 각각</a:t>
            </a:r>
            <a:endParaRPr lang="en-US" sz="1200" dirty="0"/>
          </a:p>
        </p:txBody>
      </p:sp>
      <p:sp>
        <p:nvSpPr>
          <p:cNvPr id="23" name="설명 번호 3"/>
          <p:cNvSpPr/>
          <p:nvPr/>
        </p:nvSpPr>
        <p:spPr>
          <a:xfrm>
            <a:off x="8183880" y="247802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8388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5" name="설명 3"/>
          <p:cNvSpPr txBox="1"/>
          <p:nvPr/>
        </p:nvSpPr>
        <p:spPr>
          <a:xfrm>
            <a:off x="8531352" y="2459736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없는 값은 '없다'고 응답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provision = NOT_COLLECTED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빈 문자열·추정값 금지 → 화면은 '미제공' 표시</a:t>
            </a:r>
            <a:endParaRPr lang="en-US" sz="1200" dirty="0"/>
          </a:p>
        </p:txBody>
      </p:sp>
      <p:sp>
        <p:nvSpPr>
          <p:cNvPr id="26" name="설명 번호 4"/>
          <p:cNvSpPr/>
          <p:nvPr/>
        </p:nvSpPr>
        <p:spPr>
          <a:xfrm>
            <a:off x="8183880" y="31821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8388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8" name="설명 4"/>
          <p:cNvSpPr txBox="1"/>
          <p:nvPr/>
        </p:nvSpPr>
        <p:spPr>
          <a:xfrm>
            <a:off x="8531352" y="3163824"/>
            <a:ext cx="3264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계획자료 상태 ≠ 현재 상태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as_of + current_status UNKNOWN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v1.71: 현행화 확인 불가 정비 현황은 현재 상태로 표시 금지</a:t>
            </a:r>
            <a:endParaRPr lang="en-US" sz="1200" dirty="0"/>
          </a:p>
        </p:txBody>
      </p:sp>
      <p:sp>
        <p:nvSpPr>
          <p:cNvPr id="29" name="설명 번호 5"/>
          <p:cNvSpPr/>
          <p:nvPr/>
        </p:nvSpPr>
        <p:spPr>
          <a:xfrm>
            <a:off x="8183880" y="40690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1" name="설명 5"/>
          <p:cNvSpPr txBox="1"/>
          <p:nvPr/>
        </p:nvSpPr>
        <p:spPr>
          <a:xfrm>
            <a:off x="8531352" y="4050792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이력은 배열로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DQ-10-013 지정 · DQ-10-014 점검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항목이 없으면 빈 배열 + provision</a:t>
            </a:r>
            <a:endParaRPr lang="en-US" sz="1200" dirty="0"/>
          </a:p>
        </p:txBody>
      </p:sp>
      <p:sp>
        <p:nvSpPr>
          <p:cNvPr id="32" name="설명 번호 6"/>
          <p:cNvSpPr/>
          <p:nvPr/>
        </p:nvSpPr>
        <p:spPr>
          <a:xfrm>
            <a:off x="8183880" y="477316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83880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34" name="설명 6"/>
          <p:cNvSpPr txBox="1"/>
          <p:nvPr/>
        </p:nvSpPr>
        <p:spPr>
          <a:xfrm>
            <a:off x="8531352" y="475488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관련 정보는 그룹별 ID로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02 '관련 정보 연결' → links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GR-06 근거 · GR-04 사건 · GR-09 침수기록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144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590B"/>
                </a:solidFill>
              </a:rPr>
              <a:t>주황 굵은 줄</a:t>
            </a:r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 = 0917 대비 추가·변경 · 값은 시범서비스 시드 기준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API 요청서 작성 규칙 6가지</a:t>
            </a:r>
            <a:endParaRPr lang="en-US" sz="2600" dirty="0"/>
          </a:p>
        </p:txBody>
      </p:sp>
      <p:sp>
        <p:nvSpPr>
          <p:cNvPr id="3" name="규칙 1"/>
          <p:cNvSpPr/>
          <p:nvPr/>
        </p:nvSpPr>
        <p:spPr>
          <a:xfrm>
            <a:off x="411480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4" name="규칙 번호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03 한 행 = 응답 한 섹션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섹션마다 dq_id(DQ-GG-NNN)와 group_id(GR-GG). 요구사항이 바뀌면 그 섹션만 고친다.</a:t>
            </a:r>
            <a:endParaRPr lang="en-US" sz="1700" dirty="0"/>
          </a:p>
        </p:txBody>
      </p:sp>
      <p:sp>
        <p:nvSpPr>
          <p:cNvPr id="7" name="규칙 2"/>
          <p:cNvSpPr/>
          <p:nvPr/>
        </p:nvSpPr>
        <p:spPr>
          <a:xfrm>
            <a:off x="4279392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8" name="규칙 번호 2"/>
          <p:cNvSpPr/>
          <p:nvPr/>
        </p:nvSpPr>
        <p:spPr>
          <a:xfrm>
            <a:off x="4507992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응답 요청 기준을 값으로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basis(필수/원천값/추가 협의) + 필드 provision. '없음'을 빈칸으로 두지 않는다.</a:t>
            </a:r>
            <a:endParaRPr lang="en-US" sz="1700" dirty="0"/>
          </a:p>
        </p:txBody>
      </p:sp>
      <p:sp>
        <p:nvSpPr>
          <p:cNvPr id="11" name="규칙 3"/>
          <p:cNvSpPr/>
          <p:nvPr/>
        </p:nvSpPr>
        <p:spPr>
          <a:xfrm>
            <a:off x="8147304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12" name="규칙 번호 3"/>
          <p:cNvSpPr/>
          <p:nvPr/>
        </p:nvSpPr>
        <p:spPr>
          <a:xfrm>
            <a:off x="8375904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값은 쪼개서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'/'로 나뉜 항목 하나 = 필드 하나. 숫자·단위·날짜를 분리해 정렬·비교가 되게.</a:t>
            </a:r>
            <a:endParaRPr lang="en-US" sz="1700" dirty="0"/>
          </a:p>
        </p:txBody>
      </p:sp>
      <p:sp>
        <p:nvSpPr>
          <p:cNvPr id="15" name="규칙 4"/>
          <p:cNvSpPr/>
          <p:nvPr/>
        </p:nvSpPr>
        <p:spPr>
          <a:xfrm>
            <a:off x="411480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16" name="규칙 번호 4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식별자 세트 고정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대상유형 + 객체 ID + 원천 관리번호 + 공간객체 ID. ID를 만들거나 분해해 추론하지 않는다.</a:t>
            </a:r>
            <a:endParaRPr lang="en-US" sz="1700" dirty="0"/>
          </a:p>
        </p:txBody>
      </p:sp>
      <p:sp>
        <p:nvSpPr>
          <p:cNvPr id="19" name="규칙 5"/>
          <p:cNvSpPr/>
          <p:nvPr/>
        </p:nvSpPr>
        <p:spPr>
          <a:xfrm>
            <a:off x="4279392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20" name="규칙 번호 5"/>
          <p:cNvSpPr/>
          <p:nvPr/>
        </p:nvSpPr>
        <p:spPr>
          <a:xfrm>
            <a:off x="4507992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799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연결은 그룹별 ID로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02 '관련 정보 연결'의 그룹마다 links에 ID 배열. 명시된 ID가 있을 때만 연결한다.</a:t>
            </a:r>
            <a:endParaRPr lang="en-US" sz="1700" dirty="0"/>
          </a:p>
        </p:txBody>
      </p:sp>
      <p:sp>
        <p:nvSpPr>
          <p:cNvPr id="23" name="규칙 6"/>
          <p:cNvSpPr/>
          <p:nvPr/>
        </p:nvSpPr>
        <p:spPr>
          <a:xfrm>
            <a:off x="8147304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24" name="규칙 번호 6"/>
          <p:cNvSpPr/>
          <p:nvPr/>
        </p:nvSpPr>
        <p:spPr>
          <a:xfrm>
            <a:off x="8375904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759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모르면 UNKNOWN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현재 상태·정비 완료 여부를 LLM이 채우지 않는다. 계획자료 값은 기준일(as_of)과 함께.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같은 방식을 나머지 요청에 — API ↔ 02 그룹 ↔ 03 묶음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93192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0917 API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02 그룹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03 정보 제공 묶음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T3Q-04 유사사례 검색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GR-04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DQ-04-001·002 (핵심 표시항목)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핵심 표시항목 필드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T3Q-05 위험·취약 대상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GR-10 ~ 12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DQ-10-001 · 11-001 · 12-001 핵심항목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핵심 표시항목 필드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T3Q-10 · 11 사건 상세 · 유사도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GR-04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DQ-04-001 ~ 008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요인 비교 DQ-04-003·004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T3Q-12 · 13 · 14 타임라인 · 피해복구 · 관측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DQ-05-001 ~ 015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경보·문자·신고 이력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T3Q-15 위험·취약 상세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GR-10 ~ 12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DQ-10-001~029 · 11-001~015 · 12-001~004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이번 샘플 기준으로 개정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T3Q-16 · 17 하천·계획 지식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GR-13 ~ 16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DQ-13-001 ~ 16-009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측점표·대안 검토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T3Q-19 근거 조회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GR-06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DQ-06-001 ~ 005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유지 + dq_id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위성영상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DQ-07-001 ~ 007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T3Q-10 일부 필드 → 영상 상세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소방 신고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DQ-08-001 ~ 007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신규 또는 T3Q-07 확장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대피·매뉴얼 프로세스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GR-17 · 18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DQ-17-001~004 · 18-001~009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신규 API 필요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T3Q-01 Agent 질의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GR-03 · 19 · 21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DQ-03-001·002 · 19-001 · 21-001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응답 구조 확정 회신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안내 상자"/>
          <p:cNvSpPr/>
          <p:nvPr/>
        </p:nvSpPr>
        <p:spPr>
          <a:xfrm>
            <a:off x="411480" y="5669280"/>
            <a:ext cx="11338560" cy="548640"/>
          </a:xfrm>
          <a:prstGeom prst="roundRect">
            <a:avLst>
              <a:gd name="adj" fmla="val 10000"/>
            </a:avLst>
          </a:prstGeom>
          <a:solidFill>
            <a:srgbClr val="EAF2FE"/>
          </a:solidFill>
          <a:ln/>
        </p:spPr>
      </p:sp>
      <p:sp>
        <p:nvSpPr>
          <p:cNvPr id="5" name="안내 문구"/>
          <p:cNvSpPr txBox="1"/>
          <p:nvPr/>
        </p:nvSpPr>
        <p:spPr>
          <a:xfrm>
            <a:off x="576072" y="5669280"/>
            <a:ext cx="11009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제안 순서 : ① T3Q-15 개정안을 T3Q와 먼저 합의(구조 확정) → ② 같은 구조로 T3Q-10~14·16·17 개정 → ③ 매뉴얼·대피(GR-17·18)·소방 신고(GR-08) 신규 요청 → ④ 03 시트 행과 회신표를 dq_id로 대조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부록 — 이전 ID ↔ 개정 ID 대조 (내용 변경 없음)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371600"/>
                <a:gridCol w="70408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개정 그룹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개정 ID 범위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 패널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 DQ (개정 ID 순서대로)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DQ-03-001~002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123·124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DQ-04-001~008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001·002·098·099·003·004·005·006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DQ-05-001~015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039·040·041·042·043·044·045·046·047·093·094·095·096·097·115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DQ-06-001~005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052·053·054·055·056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DQ-07-001~007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057·058·059·060·061·062·063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DQ-08-001~007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FIRE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116·117·118·119·120·121·122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DQ-09-001~005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064·065·066·067·114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DQ-10-001~029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007·008·009·010·011·077·078·079·082·083·084·100·101·102·103·104·085·086·087·088·089·090·091·105·106·107·108·109·110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DQ-11-001~015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012·013·014·015·016·072·073·074·111·075·076·112·080·081·113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DQ-12-001~004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017·018·019·020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DQ-13-001~004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021·022·023·024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DQ-14-001~015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025·026·126·127·145·027·128·129·146·130·028·131·132·133·029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DQ-15-001~011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030·134·031·135·136·032·092·138·137·033·034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DQ-16-001~009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035·139·036·141·142·143·037·140·038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DQ-17-001~004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048·049·050·051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DQ-18-001~009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147·148·149·151·150·152·153·154·155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DQ-19-001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COMMON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GR-20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DQ-20-001~004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068·069·070·071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GR-21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DQ-21-001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882"/>
                </a:solidFill>
              </a:rPr>
              <a:t>155개 묶음 · 417개 세부 항목의 조회 대상·구분·항목·응답 요청 기준·식별자를 이전 판과 1:1 대조 — 155건 모두 동일. 전체 대조표: DQ_ID_대조표_v1.71(이전→개정).csv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tyAI KRDS">
  <a:themeElements>
    <a:clrScheme name="SafetyAI KRDS">
      <a:dk1>
        <a:srgbClr val="1E2124"/>
      </a:dk1>
      <a:lt1>
        <a:srgbClr val="FFFFFF"/>
      </a:lt1>
      <a:dk2>
        <a:srgbClr val="063A74"/>
      </a:dk2>
      <a:lt2>
        <a:srgbClr val="F3F5F8"/>
      </a:lt2>
      <a:accent1>
        <a:srgbClr val="063A74"/>
      </a:accent1>
      <a:accent2>
        <a:srgbClr val="E5590B"/>
      </a:accent2>
      <a:accent3>
        <a:srgbClr val="256EF4"/>
      </a:accent3>
      <a:accent4>
        <a:srgbClr val="228738"/>
      </a:accent4>
      <a:accent5>
        <a:srgbClr val="6F4BD8"/>
      </a:accent5>
      <a:accent6>
        <a:srgbClr val="6D7882"/>
      </a:accent6>
      <a:hlink>
        <a:srgbClr val="256EF4"/>
      </a:hlink>
      <a:folHlink>
        <a:srgbClr val="6F4BD8"/>
      </a:folHlink>
    </a:clrScheme>
    <a:fontScheme name="SafetyAI KRD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유엔이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상세 기능 요구사항 v1.71 02·03 시트 — 화면과 API 요청으로 읽기</dc:title>
  <dc:subject>PptxGenJS Presentation</dc:subject>
  <dc:creator>유엔이</dc:creator>
  <cp:lastModifiedBy>유엔이</cp:lastModifiedBy>
  <cp:revision>1</cp:revision>
  <dcterms:created xsi:type="dcterms:W3CDTF">2026-10-03T16:15:58Z</dcterms:created>
  <dcterms:modified xsi:type="dcterms:W3CDTF">2026-10-03T16:15:58Z</dcterms:modified>
</cp:coreProperties>
</file>