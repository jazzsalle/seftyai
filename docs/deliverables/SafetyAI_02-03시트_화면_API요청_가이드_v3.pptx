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읽는 법" id="{b359ce62-a466-f85c-df85-c3854241b248}">
          <p14:sldIdLst>
            <p14:sldId id="256"/>
            <p14:sldId id="257"/>
            <p14:sldId id="258"/>
            <p14:sldId id="259"/>
            <p14:sldId id="260"/>
          </p14:sldIdLst>
        </p14:section>
        <p14:section name="화면으로 보기" id="{dff0096b-d903-c7dc-ea84-0e17e1061c93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API 요청 작성" id="{054e24d7-faee-7940-22ee-e7b31fd8224d}">
          <p14:sldIdLst>
            <p14:sldId id="268"/>
            <p14:sldId id="269"/>
            <p14:sldId id="270"/>
            <p14:sldId id="271"/>
            <p14:sldId id="272"/>
          </p14:sldIdLst>
        </p14:section>
        <p14:section name="다음 단계" id="{303bff56-817f-0b73-cfbf-10369891f0f6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목적: 상세 기능 요구사항 정의서 v1.71의 02_조회·연계구조(GR-01~21)와 03_상세정보 제공항목(DQ-GG-NNN)이 화면 어디에 나타나는지 보여주고, 그 내용을 API 요청서에 어떻게 담는지 샘플로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흐름: 조건·특보·AI 모드로 질의 진입 → Agent가 답변과 대상유형·ID 반환 → 02 시트 규칙대로 대상 선택·상세조회·관련 정보 연결 → 상세의 각 칸은 03 시트 정보 제공 묶음(DQ-GG-NNN). GG = 02 그룹 번호.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 시트 순서 = 사용자의 업무 흐름. 질의 진입(조건·특보·AI 모드) → 과거 사례 → 위험·취약 대상 → 계획지식 → 대응 → 공통. 이후 화면 슬라이드도 이 순서를 따른다.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 시트 상단 문구: '실제 상세항목·응답 요청 기준은 03 시트에서 관리한다.' 즉 02는 고르고 잇는 규칙, 03은 데이터 명세.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 시트의 한 행(DQ-GG-NNN)은 '이 그룹의 이 묶음에 이 값들을, 이 기준으로, 이 식별자로' 달라는 명세. 개정판에서 '기존 API 참고·원시데이터 근거·이력' 열은 빠지고 8개 열로 정리됨.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GR-01은 03 시트 연결이 '해당 없음 / 입력·외부 특보 조회'. 입력값은 QueryContext로 Agent 질의에 실리고, 유사사례의 영향요인 비교(DQ-04-003)에서 '현재조건 입력값'으로 돌아온다. 조건을 하나도 넣지 않으면 기준지역 일반 질의.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GR-02도 03 묶음이 없다(입력·외부 특보 조회). 참조한 특보는 refAdvisory로 질의에 실린다. AI 모드 점검과 연결될 때는 점검 요청 ID(GR-03)와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GR-03의 03 묶음은 DQ-03-001(판단·근거, 필수)과 DQ-03-002(특보 안내). 추천질문은 GR-21 DQ-21-001로 분리됨(일반대화에도 필수 응답).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 GR-04의 '관련 정보 연결': 사건 이력(GR-05), 근거문서(GR-06), 위성영상(GR-07)을 기본 세트로, 소방 신고(GR-08)·침수기록(GR-09)·대응정보(GR-17~18)·지도(GR-20)를 함께. 영향요인 비교(DQ-04-003)는 RFP 필수 — 0917 T3Q-11 보완 대상.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예: “부산 급경사지는 어디 있고, 왜·언제 위험한가요?” (훈련 시나리오). 02 GR-10의 관련 정보 연결: 같은 객체의 지정·평가·점검·사업 이력, 계획·하천, 대피·근거·지도.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GR-10 안에 공통 묶음(DQ-10-001~005)과 하위유형 전용 묶음이 있다. 급경사지·붕괴위험지역 = DQ-10-009~016 (시설·위험정보, 위치, 정비사업, 연계키, 지정·점검·조사·준공 이력) — 0917 요청서에는 이 부분이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GR-18 행동매뉴얼 대응절차 = DQ-18-001~009 (매뉴얼 적용범위 → 단계 → 업무 → 발동조건 → 담당·협업·보고 → 진행 관계 → 대피·통제·자원 → 추출 근거 → Agent 절차 연결). 0917 요청 목록(T3Q-01~27)에는 매뉴얼이 근거 인용으로만 나오고 프로세스 API가 없어 신규 요청 필요 — 리스크 1순위.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0917 요청서는 화면 탭 기준의 공통 attributes 배열이라 03 시트의 하위유형 묶음과 '응답 요청 기준'이 드러나지 않는다. 구조는 유지하고 섹션·식별자·상태값을 더하는 방향.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요청은 object_type과 sections 쿼리로 '어느 그룹의 어느 탭'을 받을지 명시. 응답은 target(그룹·식별자)과 sections(DQ 단위)로 나눈다.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하위유형 섹션, 값 분리, NOT_COLLECTED, 계획자료 기준일과 UNKNOWN, 이력 배열, 그룹별 links. data_gaps에는 dq_id를 달아 어느 요구 행이 비었는지 바로 보이게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요청서 전체에 같은 규칙을 적용하면, T3Q 회신표와 03 시트를 행 단위로 대조할 수 있고 화면 '미제공' 처리도 일관된다.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주황 = 보강·신규가 필요한 리스크 항목. 매뉴얼 프로세스(GR-18)는 0917 목록에 해당 API가 없어 신규 요청이 필요하다. T3Q 2차 회신표는 이전 ID(DQ-001~155)를 쓰므로 부록 대조표로 맞춘다.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내부용 화면(응답 정합성 검증)은 사업수행계획서의 '내부 검증용 화면'에 해당. ①을 하려면 Agent가 받은 질의를 되돌려줘야 하고, ②를 하려면 정답값이 문장이 아닌 구조(ID·항목값·근거)여야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T3Q 2차 검토회신표 등 이전 자료는 DQ-001~155(이전 ID)를 쓴다. 회신을 대조할 때 이 표 또는 CSV로 개정 ID를 찾는다.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63A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63A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114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재난안전 AI 시범서비스 · 상세기능요구사항 02·03 시트 읽기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상세기능요구사항 02·03 시트,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화면과 API 요청으로 읽기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02 조회·연계구조(GR) · 03 상세정보 제공항목(DQ)을 시범서비스 화면에 대응시키고, 1차 API 요청서(0917) T3Q-15 개정 샘플로 정리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D6"/>
                </a:solidFill>
              </a:rPr>
              <a:t>재난안전 AI 데이터 구축 시범서비스 · 유엔이 · 2026.10 · 상세 기능 요구사항 정의서 v1.71 기준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02 시트는 무엇을 고르고 어디로 잇는가, 03 시트는 무엇을 받아야 하는가</a:t>
            </a:r>
            <a:endParaRPr lang="en-US" sz="2600" dirty="0"/>
          </a:p>
        </p:txBody>
      </p:sp>
      <p:sp>
        <p:nvSpPr>
          <p:cNvPr id="3" name="흐름 질의 진입"/>
          <p:cNvSpPr/>
          <p:nvPr/>
        </p:nvSpPr>
        <p:spPr>
          <a:xfrm>
            <a:off x="411480" y="132588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6D7882"/>
            </a:solidFill>
            <a:prstDash val="solid"/>
          </a:ln>
        </p:spPr>
      </p:sp>
      <p:sp>
        <p:nvSpPr>
          <p:cNvPr id="4" name="흐름 머리 질의 진입"/>
          <p:cNvSpPr/>
          <p:nvPr/>
        </p:nvSpPr>
        <p:spPr>
          <a:xfrm>
            <a:off x="411480" y="132588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6D78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1480" y="13258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질의 진입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21208" y="1837944"/>
            <a:ext cx="18836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124"/>
                </a:solidFill>
              </a:rPr>
              <a:t>조건 입력 GR-01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124"/>
                </a:solidFill>
              </a:rPr>
              <a:t>특보 GR-02 · AI 모드 GR-03</a:t>
            </a:r>
            <a:endParaRPr lang="en-US" sz="1200" dirty="0"/>
          </a:p>
        </p:txBody>
      </p:sp>
      <p:sp>
        <p:nvSpPr>
          <p:cNvPr id="7" name="화살표"/>
          <p:cNvSpPr/>
          <p:nvPr/>
        </p:nvSpPr>
        <p:spPr>
          <a:xfrm>
            <a:off x="2551176" y="1952244"/>
            <a:ext cx="128016" cy="164592"/>
          </a:xfrm>
          <a:prstGeom prst="rtTriangle">
            <a:avLst/>
          </a:prstGeom>
          <a:solidFill>
            <a:srgbClr val="D6DCE3"/>
          </a:solidFill>
          <a:ln/>
        </p:spPr>
      </p:sp>
      <p:sp>
        <p:nvSpPr>
          <p:cNvPr id="8" name="흐름 Agent 응답"/>
          <p:cNvSpPr/>
          <p:nvPr/>
        </p:nvSpPr>
        <p:spPr>
          <a:xfrm>
            <a:off x="2715768" y="132588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63A74"/>
            </a:solidFill>
            <a:prstDash val="solid"/>
          </a:ln>
        </p:spPr>
      </p:sp>
      <p:sp>
        <p:nvSpPr>
          <p:cNvPr id="9" name="흐름 머리 Agent 응답"/>
          <p:cNvSpPr/>
          <p:nvPr/>
        </p:nvSpPr>
        <p:spPr>
          <a:xfrm>
            <a:off x="2715768" y="132588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063A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15768" y="13258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Agent 응답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25496" y="1837944"/>
            <a:ext cx="18836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124"/>
                </a:solidFill>
              </a:rPr>
              <a:t>답변 + 대상유형·ID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124"/>
                </a:solidFill>
              </a:rPr>
              <a:t>공통 연결 GR-19</a:t>
            </a:r>
            <a:endParaRPr lang="en-US" sz="1200" dirty="0"/>
          </a:p>
        </p:txBody>
      </p:sp>
      <p:sp>
        <p:nvSpPr>
          <p:cNvPr id="12" name="화살표"/>
          <p:cNvSpPr/>
          <p:nvPr/>
        </p:nvSpPr>
        <p:spPr>
          <a:xfrm>
            <a:off x="4855464" y="1952244"/>
            <a:ext cx="128016" cy="164592"/>
          </a:xfrm>
          <a:prstGeom prst="rtTriangle">
            <a:avLst/>
          </a:prstGeom>
          <a:solidFill>
            <a:srgbClr val="D6DCE3"/>
          </a:solidFill>
          <a:ln/>
        </p:spPr>
      </p:sp>
      <p:sp>
        <p:nvSpPr>
          <p:cNvPr id="13" name="흐름 대상 선택"/>
          <p:cNvSpPr/>
          <p:nvPr/>
        </p:nvSpPr>
        <p:spPr>
          <a:xfrm>
            <a:off x="5020056" y="132588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56EF4"/>
            </a:solidFill>
            <a:prstDash val="solid"/>
          </a:ln>
        </p:spPr>
      </p:sp>
      <p:sp>
        <p:nvSpPr>
          <p:cNvPr id="14" name="흐름 머리 대상 선택"/>
          <p:cNvSpPr/>
          <p:nvPr/>
        </p:nvSpPr>
        <p:spPr>
          <a:xfrm>
            <a:off x="5020056" y="132588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256E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0056" y="13258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대상 선택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29784" y="1837944"/>
            <a:ext cx="18836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124"/>
                </a:solidFill>
              </a:rPr>
              <a:t>02 대상그룹(A)·선택 대상(B)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124"/>
                </a:solidFill>
              </a:rPr>
              <a:t>핵심 표시항목(C)</a:t>
            </a:r>
            <a:endParaRPr lang="en-US" sz="1200" dirty="0"/>
          </a:p>
        </p:txBody>
      </p:sp>
      <p:sp>
        <p:nvSpPr>
          <p:cNvPr id="17" name="화살표"/>
          <p:cNvSpPr/>
          <p:nvPr/>
        </p:nvSpPr>
        <p:spPr>
          <a:xfrm>
            <a:off x="7159752" y="1952244"/>
            <a:ext cx="128016" cy="164592"/>
          </a:xfrm>
          <a:prstGeom prst="rtTriangle">
            <a:avLst/>
          </a:prstGeom>
          <a:solidFill>
            <a:srgbClr val="D6DCE3"/>
          </a:solidFill>
          <a:ln/>
        </p:spPr>
      </p:sp>
      <p:sp>
        <p:nvSpPr>
          <p:cNvPr id="18" name="흐름 상세조회 · 연결"/>
          <p:cNvSpPr/>
          <p:nvPr/>
        </p:nvSpPr>
        <p:spPr>
          <a:xfrm>
            <a:off x="7324344" y="132588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56EF4"/>
            </a:solidFill>
            <a:prstDash val="solid"/>
          </a:ln>
        </p:spPr>
      </p:sp>
      <p:sp>
        <p:nvSpPr>
          <p:cNvPr id="19" name="흐름 머리 상세조회 · 연결"/>
          <p:cNvSpPr/>
          <p:nvPr/>
        </p:nvSpPr>
        <p:spPr>
          <a:xfrm>
            <a:off x="7324344" y="132588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256E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24344" y="13258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상세조회 · 연결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34072" y="1837944"/>
            <a:ext cx="18836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124"/>
                </a:solidFill>
              </a:rPr>
              <a:t>02 핵심 표시항목 상세(D)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124"/>
                </a:solidFill>
              </a:rPr>
              <a:t>관련 정보 연결</a:t>
            </a:r>
            <a:endParaRPr lang="en-US" sz="1200" dirty="0"/>
          </a:p>
        </p:txBody>
      </p:sp>
      <p:sp>
        <p:nvSpPr>
          <p:cNvPr id="22" name="화살표"/>
          <p:cNvSpPr/>
          <p:nvPr/>
        </p:nvSpPr>
        <p:spPr>
          <a:xfrm>
            <a:off x="9464040" y="1952244"/>
            <a:ext cx="128016" cy="164592"/>
          </a:xfrm>
          <a:prstGeom prst="rtTriangle">
            <a:avLst/>
          </a:prstGeom>
          <a:solidFill>
            <a:srgbClr val="D6DCE3"/>
          </a:solidFill>
          <a:ln/>
        </p:spPr>
      </p:sp>
      <p:sp>
        <p:nvSpPr>
          <p:cNvPr id="23" name="흐름 정보 제공 묶음"/>
          <p:cNvSpPr/>
          <p:nvPr/>
        </p:nvSpPr>
        <p:spPr>
          <a:xfrm>
            <a:off x="9628632" y="132588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5590B"/>
            </a:solidFill>
            <a:prstDash val="solid"/>
          </a:ln>
        </p:spPr>
      </p:sp>
      <p:sp>
        <p:nvSpPr>
          <p:cNvPr id="24" name="흐름 머리 정보 제공 묶음"/>
          <p:cNvSpPr/>
          <p:nvPr/>
        </p:nvSpPr>
        <p:spPr>
          <a:xfrm>
            <a:off x="9628632" y="132588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E5590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28632" y="13258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정보 제공 묶음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738360" y="1837944"/>
            <a:ext cx="18836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124"/>
                </a:solidFill>
              </a:rPr>
              <a:t>03 DQ-GG-NNN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124"/>
                </a:solidFill>
              </a:rPr>
              <a:t>155개 묶음 · 417개 항목</a:t>
            </a:r>
            <a:endParaRPr lang="en-US" sz="1200" dirty="0"/>
          </a:p>
        </p:txBody>
      </p:sp>
      <p:sp>
        <p:nvSpPr>
          <p:cNvPr id="27" name="요약 카드 02_조회·연계구조"/>
          <p:cNvSpPr/>
          <p:nvPr/>
        </p:nvSpPr>
        <p:spPr>
          <a:xfrm>
            <a:off x="411480" y="315468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333756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56EF4"/>
                </a:solidFill>
              </a:rPr>
              <a:t>02_조회·연계구조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E2124"/>
                </a:solidFill>
              </a:rPr>
              <a:t>고르고 잇는 규칙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64C53"/>
                </a:solidFill>
              </a:rPr>
              <a:t>21개 그룹(GR)을 업무 흐름 순서로 배치했다. 그룹마다 무엇을 고르고(A·B), 무엇을 바로 보이고(C), 어디로 들어와(진입 경로) 어디로 잇는지(관련 정보 연결) 정한다.</a:t>
            </a:r>
            <a:endParaRPr lang="en-US" sz="1200" dirty="0"/>
          </a:p>
        </p:txBody>
      </p:sp>
      <p:sp>
        <p:nvSpPr>
          <p:cNvPr id="29" name="요약 카드 03_상세정보 제공항목"/>
          <p:cNvSpPr/>
          <p:nvPr/>
        </p:nvSpPr>
        <p:spPr>
          <a:xfrm>
            <a:off x="4279392" y="315468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07992" y="333756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5590B"/>
                </a:solidFill>
              </a:rPr>
              <a:t>03_상세정보 제공항목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E2124"/>
                </a:solidFill>
              </a:rPr>
              <a:t>받아야 할 데이터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64C53"/>
                </a:solidFill>
              </a:rPr>
              <a:t>정보 제공 묶음 155개(세부 417개). ID 앞 두 자리가 02 그룹 번호라서 DQ-10-009는 GR-10의 9번째 묶음이다. 응답 요청 기준·식별자까지 정한 응답 명세다.</a:t>
            </a:r>
            <a:endParaRPr lang="en-US" sz="1200" dirty="0"/>
          </a:p>
        </p:txBody>
      </p:sp>
      <p:sp>
        <p:nvSpPr>
          <p:cNvPr id="31" name="요약 카드 API 요청서"/>
          <p:cNvSpPr/>
          <p:nvPr/>
        </p:nvSpPr>
        <p:spPr>
          <a:xfrm>
            <a:off x="8147304" y="315468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75904" y="333756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63A74"/>
                </a:solidFill>
              </a:rPr>
              <a:t>API 요청서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E2124"/>
                </a:solidFill>
              </a:rPr>
              <a:t>03의 한 행 = 응답 한 묶음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64C53"/>
                </a:solidFill>
              </a:rPr>
              <a:t>응답을 DQ 단위 섹션으로 묶고 dq_id·group_id를 달면 요구사항 ↔ 화면 ↔ API가 한 줄로 추적된다. 0917 요청서는 이 축이 없어 누락을 찾기 어렵다.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02 시트 21개 그룹은 업무 흐름 순서다</a:t>
            </a:r>
            <a:endParaRPr lang="en-US" sz="2600" dirty="0"/>
          </a:p>
        </p:txBody>
      </p:sp>
      <p:sp>
        <p:nvSpPr>
          <p:cNvPr id="3" name="단계 ① 질의 진입"/>
          <p:cNvSpPr/>
          <p:nvPr/>
        </p:nvSpPr>
        <p:spPr>
          <a:xfrm>
            <a:off x="411480" y="1097280"/>
            <a:ext cx="1810512" cy="457200"/>
          </a:xfrm>
          <a:prstGeom prst="roundRect">
            <a:avLst>
              <a:gd name="adj" fmla="val 12000"/>
            </a:avLst>
          </a:prstGeom>
          <a:solidFill>
            <a:srgbClr val="6D78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10972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① 질의 진입</a:t>
            </a:r>
            <a:endParaRPr lang="en-US" sz="1400" dirty="0"/>
          </a:p>
        </p:txBody>
      </p:sp>
      <p:sp>
        <p:nvSpPr>
          <p:cNvPr id="5" name="그룹 GR-01"/>
          <p:cNvSpPr/>
          <p:nvPr/>
        </p:nvSpPr>
        <p:spPr>
          <a:xfrm>
            <a:off x="411480" y="164592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6459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7882"/>
                </a:solidFill>
              </a:rPr>
              <a:t>GR-01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03 연결 없음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기상·수문 수동 조건</a:t>
            </a:r>
            <a:endParaRPr lang="en-US" sz="1100" dirty="0"/>
          </a:p>
        </p:txBody>
      </p:sp>
      <p:sp>
        <p:nvSpPr>
          <p:cNvPr id="7" name="그룹 GR-02"/>
          <p:cNvSpPr/>
          <p:nvPr/>
        </p:nvSpPr>
        <p:spPr>
          <a:xfrm>
            <a:off x="411480" y="228600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2860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7882"/>
                </a:solidFill>
              </a:rPr>
              <a:t>GR-02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03 연결 없음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기상특보 현황·질의 진입</a:t>
            </a:r>
            <a:endParaRPr lang="en-US" sz="1100" dirty="0"/>
          </a:p>
        </p:txBody>
      </p:sp>
      <p:sp>
        <p:nvSpPr>
          <p:cNvPr id="9" name="그룹 GR-03"/>
          <p:cNvSpPr/>
          <p:nvPr/>
        </p:nvSpPr>
        <p:spPr>
          <a:xfrm>
            <a:off x="411480" y="292608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92608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7882"/>
                </a:solidFill>
              </a:rPr>
              <a:t>GR-03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2개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AI 모드 상황점검</a:t>
            </a:r>
            <a:endParaRPr lang="en-US" sz="1100" dirty="0"/>
          </a:p>
        </p:txBody>
      </p:sp>
      <p:sp>
        <p:nvSpPr>
          <p:cNvPr id="11" name="단계 ② 과거 사례"/>
          <p:cNvSpPr/>
          <p:nvPr/>
        </p:nvSpPr>
        <p:spPr>
          <a:xfrm>
            <a:off x="2317090" y="1097280"/>
            <a:ext cx="1810512" cy="457200"/>
          </a:xfrm>
          <a:prstGeom prst="roundRect">
            <a:avLst>
              <a:gd name="adj" fmla="val 12000"/>
            </a:avLst>
          </a:prstGeom>
          <a:solidFill>
            <a:srgbClr val="063A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317090" y="10972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② 과거 사례</a:t>
            </a:r>
            <a:endParaRPr lang="en-US" sz="1400" dirty="0"/>
          </a:p>
        </p:txBody>
      </p:sp>
      <p:sp>
        <p:nvSpPr>
          <p:cNvPr id="13" name="그룹 GR-04"/>
          <p:cNvSpPr/>
          <p:nvPr/>
        </p:nvSpPr>
        <p:spPr>
          <a:xfrm>
            <a:off x="2317090" y="164592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08530" y="16459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3A74"/>
                </a:solidFill>
              </a:rPr>
              <a:t>GR-04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8개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유사재난 사례</a:t>
            </a:r>
            <a:endParaRPr lang="en-US" sz="1100" dirty="0"/>
          </a:p>
        </p:txBody>
      </p:sp>
      <p:sp>
        <p:nvSpPr>
          <p:cNvPr id="15" name="그룹 GR-05"/>
          <p:cNvSpPr/>
          <p:nvPr/>
        </p:nvSpPr>
        <p:spPr>
          <a:xfrm>
            <a:off x="2317090" y="228600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08530" y="22860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3A74"/>
                </a:solidFill>
              </a:rPr>
              <a:t>GR-05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15개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사건 타임라인·피해·대응·복구</a:t>
            </a:r>
            <a:endParaRPr lang="en-US" sz="1100" dirty="0"/>
          </a:p>
        </p:txBody>
      </p:sp>
      <p:sp>
        <p:nvSpPr>
          <p:cNvPr id="17" name="그룹 GR-06"/>
          <p:cNvSpPr/>
          <p:nvPr/>
        </p:nvSpPr>
        <p:spPr>
          <a:xfrm>
            <a:off x="2317090" y="292608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08530" y="292608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3A74"/>
                </a:solidFill>
              </a:rPr>
              <a:t>GR-06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5개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근거문서·Passage</a:t>
            </a:r>
            <a:endParaRPr lang="en-US" sz="1100" dirty="0"/>
          </a:p>
        </p:txBody>
      </p:sp>
      <p:sp>
        <p:nvSpPr>
          <p:cNvPr id="19" name="그룹 GR-07"/>
          <p:cNvSpPr/>
          <p:nvPr/>
        </p:nvSpPr>
        <p:spPr>
          <a:xfrm>
            <a:off x="2317090" y="356616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08530" y="35661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3A74"/>
                </a:solidFill>
              </a:rPr>
              <a:t>GR-07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7개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재난 전·후 위성영상</a:t>
            </a:r>
            <a:endParaRPr lang="en-US" sz="1100" dirty="0"/>
          </a:p>
        </p:txBody>
      </p:sp>
      <p:sp>
        <p:nvSpPr>
          <p:cNvPr id="21" name="그룹 GR-08"/>
          <p:cNvSpPr/>
          <p:nvPr/>
        </p:nvSpPr>
        <p:spPr>
          <a:xfrm>
            <a:off x="2317090" y="420624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08530" y="420624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3A74"/>
                </a:solidFill>
              </a:rPr>
              <a:t>GR-08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7개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소방 신고·긴급구조</a:t>
            </a:r>
            <a:endParaRPr lang="en-US" sz="1100" dirty="0"/>
          </a:p>
        </p:txBody>
      </p:sp>
      <p:sp>
        <p:nvSpPr>
          <p:cNvPr id="23" name="그룹 GR-09"/>
          <p:cNvSpPr/>
          <p:nvPr/>
        </p:nvSpPr>
        <p:spPr>
          <a:xfrm>
            <a:off x="2317090" y="484632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408530" y="48463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3A74"/>
                </a:solidFill>
              </a:rPr>
              <a:t>GR-09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5개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침수흔적도·과거 침수</a:t>
            </a:r>
            <a:endParaRPr lang="en-US" sz="1100" dirty="0"/>
          </a:p>
        </p:txBody>
      </p:sp>
      <p:sp>
        <p:nvSpPr>
          <p:cNvPr id="25" name="단계 ③ 위험·취약 대상"/>
          <p:cNvSpPr/>
          <p:nvPr/>
        </p:nvSpPr>
        <p:spPr>
          <a:xfrm>
            <a:off x="4222699" y="1097280"/>
            <a:ext cx="1810512" cy="457200"/>
          </a:xfrm>
          <a:prstGeom prst="roundRect">
            <a:avLst>
              <a:gd name="adj" fmla="val 12000"/>
            </a:avLst>
          </a:prstGeom>
          <a:solidFill>
            <a:srgbClr val="256EF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222699" y="10972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③ 위험·취약 대상</a:t>
            </a:r>
            <a:endParaRPr lang="en-US" sz="1400" dirty="0"/>
          </a:p>
        </p:txBody>
      </p:sp>
      <p:sp>
        <p:nvSpPr>
          <p:cNvPr id="27" name="그룹 GR-10"/>
          <p:cNvSpPr/>
          <p:nvPr/>
        </p:nvSpPr>
        <p:spPr>
          <a:xfrm>
            <a:off x="4222699" y="164592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14139" y="16459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EF4"/>
                </a:solidFill>
              </a:rPr>
              <a:t>GR-10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29개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법정·계획상 위험·취약지역</a:t>
            </a:r>
            <a:endParaRPr lang="en-US" sz="1100" dirty="0"/>
          </a:p>
        </p:txBody>
      </p:sp>
      <p:sp>
        <p:nvSpPr>
          <p:cNvPr id="29" name="그룹 GR-11"/>
          <p:cNvSpPr/>
          <p:nvPr/>
        </p:nvSpPr>
        <p:spPr>
          <a:xfrm>
            <a:off x="4222699" y="228600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14139" y="22860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EF4"/>
                </a:solidFill>
              </a:rPr>
              <a:t>GR-11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15개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취약시설</a:t>
            </a:r>
            <a:endParaRPr lang="en-US" sz="1100" dirty="0"/>
          </a:p>
        </p:txBody>
      </p:sp>
      <p:sp>
        <p:nvSpPr>
          <p:cNvPr id="31" name="그룹 GR-12"/>
          <p:cNvSpPr/>
          <p:nvPr/>
        </p:nvSpPr>
        <p:spPr>
          <a:xfrm>
            <a:off x="4222699" y="292608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314139" y="292608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EF4"/>
                </a:solidFill>
              </a:rPr>
              <a:t>GR-12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4개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잠재 위험요소</a:t>
            </a:r>
            <a:endParaRPr lang="en-US" sz="1100" dirty="0"/>
          </a:p>
        </p:txBody>
      </p:sp>
      <p:sp>
        <p:nvSpPr>
          <p:cNvPr id="33" name="단계 ④ 계획지식"/>
          <p:cNvSpPr/>
          <p:nvPr/>
        </p:nvSpPr>
        <p:spPr>
          <a:xfrm>
            <a:off x="6128309" y="1097280"/>
            <a:ext cx="1810512" cy="457200"/>
          </a:xfrm>
          <a:prstGeom prst="roundRect">
            <a:avLst>
              <a:gd name="adj" fmla="val 12000"/>
            </a:avLst>
          </a:prstGeom>
          <a:solidFill>
            <a:srgbClr val="22873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128309" y="10972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④ 계획지식</a:t>
            </a:r>
            <a:endParaRPr lang="en-US" sz="1400" dirty="0"/>
          </a:p>
        </p:txBody>
      </p:sp>
      <p:sp>
        <p:nvSpPr>
          <p:cNvPr id="35" name="그룹 GR-13"/>
          <p:cNvSpPr/>
          <p:nvPr/>
        </p:nvSpPr>
        <p:spPr>
          <a:xfrm>
            <a:off x="6128309" y="164592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19749" y="16459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8738"/>
                </a:solidFill>
              </a:rPr>
              <a:t>GR-13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4개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하천·소하천 기본정보</a:t>
            </a:r>
            <a:endParaRPr lang="en-US" sz="1100" dirty="0"/>
          </a:p>
        </p:txBody>
      </p:sp>
      <p:sp>
        <p:nvSpPr>
          <p:cNvPr id="37" name="그룹 GR-14"/>
          <p:cNvSpPr/>
          <p:nvPr/>
        </p:nvSpPr>
        <p:spPr>
          <a:xfrm>
            <a:off x="6128309" y="228600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19749" y="22860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8738"/>
                </a:solidFill>
              </a:rPr>
              <a:t>GR-14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15개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자연재해저감종합계획</a:t>
            </a:r>
            <a:endParaRPr lang="en-US" sz="1100" dirty="0"/>
          </a:p>
        </p:txBody>
      </p:sp>
      <p:sp>
        <p:nvSpPr>
          <p:cNvPr id="39" name="그룹 GR-15"/>
          <p:cNvSpPr/>
          <p:nvPr/>
        </p:nvSpPr>
        <p:spPr>
          <a:xfrm>
            <a:off x="6128309" y="292608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19749" y="292608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8738"/>
                </a:solidFill>
              </a:rPr>
              <a:t>GR-15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11개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하천기본계획</a:t>
            </a:r>
            <a:endParaRPr lang="en-US" sz="1100" dirty="0"/>
          </a:p>
        </p:txBody>
      </p:sp>
      <p:sp>
        <p:nvSpPr>
          <p:cNvPr id="41" name="그룹 GR-16"/>
          <p:cNvSpPr/>
          <p:nvPr/>
        </p:nvSpPr>
        <p:spPr>
          <a:xfrm>
            <a:off x="6128309" y="356616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19749" y="35661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8738"/>
                </a:solidFill>
              </a:rPr>
              <a:t>GR-16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9개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소하천정비종합계획</a:t>
            </a:r>
            <a:endParaRPr lang="en-US" sz="1100" dirty="0"/>
          </a:p>
        </p:txBody>
      </p:sp>
      <p:sp>
        <p:nvSpPr>
          <p:cNvPr id="43" name="단계 ⑤ 대응"/>
          <p:cNvSpPr/>
          <p:nvPr/>
        </p:nvSpPr>
        <p:spPr>
          <a:xfrm>
            <a:off x="8033918" y="1097280"/>
            <a:ext cx="1810512" cy="457200"/>
          </a:xfrm>
          <a:prstGeom prst="roundRect">
            <a:avLst>
              <a:gd name="adj" fmla="val 12000"/>
            </a:avLst>
          </a:prstGeom>
          <a:solidFill>
            <a:srgbClr val="E5590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033918" y="10972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⑤ 대응</a:t>
            </a:r>
            <a:endParaRPr lang="en-US" sz="1400" dirty="0"/>
          </a:p>
        </p:txBody>
      </p:sp>
      <p:sp>
        <p:nvSpPr>
          <p:cNvPr id="45" name="그룹 GR-17"/>
          <p:cNvSpPr/>
          <p:nvPr/>
        </p:nvSpPr>
        <p:spPr>
          <a:xfrm>
            <a:off x="8033918" y="164592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25358" y="16459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590B"/>
                </a:solidFill>
              </a:rPr>
              <a:t>GR-17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4개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대피시설·기본 행동정보</a:t>
            </a:r>
            <a:endParaRPr lang="en-US" sz="1100" dirty="0"/>
          </a:p>
        </p:txBody>
      </p:sp>
      <p:sp>
        <p:nvSpPr>
          <p:cNvPr id="47" name="그룹 GR-18"/>
          <p:cNvSpPr/>
          <p:nvPr/>
        </p:nvSpPr>
        <p:spPr>
          <a:xfrm>
            <a:off x="8033918" y="228600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125358" y="22860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590B"/>
                </a:solidFill>
              </a:rPr>
              <a:t>GR-18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9개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행동매뉴얼 대응절차</a:t>
            </a:r>
            <a:endParaRPr lang="en-US" sz="1100" dirty="0"/>
          </a:p>
        </p:txBody>
      </p:sp>
      <p:sp>
        <p:nvSpPr>
          <p:cNvPr id="49" name="단계 ⑥ 공통"/>
          <p:cNvSpPr/>
          <p:nvPr/>
        </p:nvSpPr>
        <p:spPr>
          <a:xfrm>
            <a:off x="9939528" y="1097280"/>
            <a:ext cx="1810512" cy="457200"/>
          </a:xfrm>
          <a:prstGeom prst="roundRect">
            <a:avLst>
              <a:gd name="adj" fmla="val 12000"/>
            </a:avLst>
          </a:prstGeom>
          <a:solidFill>
            <a:srgbClr val="6F4BD8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939528" y="10972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⑥ 공통</a:t>
            </a:r>
            <a:endParaRPr lang="en-US" sz="1400" dirty="0"/>
          </a:p>
        </p:txBody>
      </p:sp>
      <p:sp>
        <p:nvSpPr>
          <p:cNvPr id="51" name="그룹 GR-19"/>
          <p:cNvSpPr/>
          <p:nvPr/>
        </p:nvSpPr>
        <p:spPr>
          <a:xfrm>
            <a:off x="9939528" y="164592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030968" y="16459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4BD8"/>
                </a:solidFill>
              </a:rPr>
              <a:t>GR-19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1개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상세조회 공통 연결·상태</a:t>
            </a:r>
            <a:endParaRPr lang="en-US" sz="1100" dirty="0"/>
          </a:p>
        </p:txBody>
      </p:sp>
      <p:sp>
        <p:nvSpPr>
          <p:cNvPr id="53" name="그룹 GR-20"/>
          <p:cNvSpPr/>
          <p:nvPr/>
        </p:nvSpPr>
        <p:spPr>
          <a:xfrm>
            <a:off x="9939528" y="228600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030968" y="22860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4BD8"/>
                </a:solidFill>
              </a:rPr>
              <a:t>GR-20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4개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공간객체·지도 연결</a:t>
            </a:r>
            <a:endParaRPr lang="en-US" sz="1100" dirty="0"/>
          </a:p>
        </p:txBody>
      </p:sp>
      <p:sp>
        <p:nvSpPr>
          <p:cNvPr id="55" name="그룹 GR-21"/>
          <p:cNvSpPr/>
          <p:nvPr/>
        </p:nvSpPr>
        <p:spPr>
          <a:xfrm>
            <a:off x="9939528" y="2926080"/>
            <a:ext cx="1810512" cy="566928"/>
          </a:xfrm>
          <a:prstGeom prst="roundRect">
            <a:avLst>
              <a:gd name="adj" fmla="val 8065"/>
            </a:avLst>
          </a:prstGeom>
          <a:solidFill>
            <a:srgbClr val="F3F5F8"/>
          </a:solidFill>
          <a:ln w="6350">
            <a:solidFill>
              <a:srgbClr val="D6DCE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030968" y="292608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4BD8"/>
                </a:solidFill>
              </a:rPr>
              <a:t>GR-21 </a:t>
            </a:r>
            <a:pPr indent="0" marL="0">
              <a:buNone/>
            </a:pPr>
            <a:r>
              <a:rPr lang="en-US" sz="950" dirty="0">
                <a:solidFill>
                  <a:srgbClr val="6D7882"/>
                </a:solidFill>
              </a:rPr>
              <a:t>DQ 1개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124"/>
                </a:solidFill>
              </a:rPr>
              <a:t>일반대화 후속 추천질문</a:t>
            </a:r>
            <a:endParaRPr lang="en-US" sz="1100" dirty="0"/>
          </a:p>
        </p:txBody>
      </p:sp>
      <p:sp>
        <p:nvSpPr>
          <p:cNvPr id="57" name="안내 상자"/>
          <p:cNvSpPr/>
          <p:nvPr/>
        </p:nvSpPr>
        <p:spPr>
          <a:xfrm>
            <a:off x="411480" y="5669280"/>
            <a:ext cx="11338560" cy="548640"/>
          </a:xfrm>
          <a:prstGeom prst="roundRect">
            <a:avLst>
              <a:gd name="adj" fmla="val 10000"/>
            </a:avLst>
          </a:prstGeom>
          <a:solidFill>
            <a:srgbClr val="EAF2FE"/>
          </a:solidFill>
          <a:ln/>
        </p:spPr>
      </p:sp>
      <p:sp>
        <p:nvSpPr>
          <p:cNvPr id="58" name="안내 문구"/>
          <p:cNvSpPr txBox="1"/>
          <p:nvPr/>
        </p:nvSpPr>
        <p:spPr>
          <a:xfrm>
            <a:off x="576072" y="5669280"/>
            <a:ext cx="11009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124"/>
                </a:solidFill>
              </a:rPr>
              <a:t>그룹 번호가 곧 03 시트 ID의 앞자리다 (GR-10 → DQ-10-001~029). GR-01·02는 입력·외부 특보 조회라 03 묶음이 없고, 질의 context(QueryContext)로 Agent에 전달된다.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02_조회·연계구조 — 열마다 화면의 어디를 정하는가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  <a:gridCol w="292608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열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무슨 뜻인가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시범서비스 화면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API 요청에서 챙길 것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그룹 ID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GR-01~21, 업무 흐름 순서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대화 → 목록 → 상세 → 연결 순서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응답 섹션 group_id · 03 ID 앞자리(GG)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대상그룹(A) · 선택 대상(B)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사용자가 보는 정보 묶음과, 그 안에서 고르는 개체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결과 목록 그룹 탭 · 목록 행 · 답변 속 엔터티 칩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entities에 대상유형(그룹·하위유형) 코드가 있어야 탭을 가름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핵심 표시항목(C)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목록·엔터티에 바로 보일 값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목록 한 줄: 이름 / 행정구역 · 유형 / 등급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목록 API(T3Q-04·05) 응답에 필드로 — 상세를 다시 부르지 않게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핵심 표시항목 상세(D) / 03 연결 ID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상세에서 보일 묶음과 03 시트 ID 범위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상세 패널의 탭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응답 섹션 = 03 시트 한 행 (dq_id)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조회·연결 식별자 예시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무엇으로 조회하고 무엇과 잇는가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ID 배지 · 지도 연결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target 블록 (대상유형·객체 ID·원천 관리번호·공간객체 ID)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진입 경로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언제·어디서 이 대상에 들어오나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답변 칩 · 목록 클릭 · AI 모드 · 조건 입력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'Agent가 ID를 반환'이 진입 조건 — 응답에 ID 필수, 추론·생성 금지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관련 정보 연결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함께 열릴 다른 그룹 (예: GR-04 → GR-05·06·07)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연관 객체 탭 · 근거 칩 · 지도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links 블록에 그룹별 ID 목록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03_상세정보 제공항목 — 한 행이 곧 API 응답 한 묶음의 명세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301752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열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예 (DQ-10-009)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무슨 뜻인가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API 응답에 이렇게 담는다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정보 제공 그룹 ID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EF4"/>
                          </a:solidFill>
                        </a:rPr>
                        <a:t>DQ-10-009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추적 키 · 앞 두 자리 = 02 그룹 번호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섹션마다 "dq_id"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조회·연계 그룹 ID(A)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EF4"/>
                          </a:solidFill>
                        </a:rPr>
                        <a:t>GR-10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02 시트의 어느 그룹인가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"group_id"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조회 대상(B)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EF4"/>
                          </a:solidFill>
                        </a:rPr>
                        <a:t>급경사지·붕괴위험지역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그룹 안의 하위유형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object_type별 섹션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조회 내용 구분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EF4"/>
                          </a:solidFill>
                        </a:rPr>
                        <a:t>시설·위험정보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상세 패널 안의 탭·묶음 제목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섹션 "label" (화면 탭 이름과 맞춤)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요청 상세정보 항목(D)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EF4"/>
                          </a:solidFill>
                        </a:rPr>
                        <a:t>재해위험도 등급·점수 / 안전점검일·결과 / 거주가구·인구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받아야 할 값 ('/'로 나뉜 하나하나가 필드)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항목마다 key·label·value·unit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응답 요청 기준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EF4"/>
                          </a:solidFill>
                        </a:rPr>
                        <a:t>원천값 요청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필수 응답 / 원천값 요청 / 추가 협의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섹션 "basis" + 필드 "provision"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조회·연결 식별자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EF4"/>
                          </a:solidFill>
                        </a:rPr>
                        <a:t>대상유형 + 객체 ID + 원천 관리번호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무엇으로 조회하고 무엇과 잇는가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"target" 블록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관련 요구사항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EF4"/>
                          </a:solidFill>
                        </a:rPr>
                        <a:t>UFR-003-001-04, -06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기능 요구사항 추적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API 필드 아님 — 요청서 비고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11480" y="576072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7882"/>
                </a:solidFill>
              </a:rPr>
              <a:t>※ 이전 판(02_목록-상세구조 · 03_T3Q상세정보조회항목) 대비 155개 묶음의 내용(조회 대상·구분·항목·응답 기준·식별자)은 155건 모두 같고, ID와 그룹만 바뀌었다 — 대조표는 부록·CSV.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① 기상·수문 수동 조건(GR-01) — 03 묶음 없이 질의 context로 간다</a:t>
            </a:r>
            <a:endParaRPr lang="en-US" sz="2600" dirty="0"/>
          </a:p>
        </p:txBody>
      </p:sp>
      <p:pic>
        <p:nvPicPr>
          <p:cNvPr id="3" name="화면 G1_cond" descr="시범서비스 화면 캡처 (G1_cond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5074920" cy="5051146"/>
          </a:xfrm>
          <a:prstGeom prst="rect">
            <a:avLst/>
          </a:prstGeom>
        </p:spPr>
      </p:pic>
      <p:sp>
        <p:nvSpPr>
          <p:cNvPr id="4" name="화면 테두리"/>
          <p:cNvSpPr/>
          <p:nvPr/>
        </p:nvSpPr>
        <p:spPr>
          <a:xfrm>
            <a:off x="411480" y="1005840"/>
            <a:ext cx="5074920" cy="5051146"/>
          </a:xfrm>
          <a:prstGeom prst="rect">
            <a:avLst/>
          </a:prstGeom>
          <a:ln w="9525">
            <a:solidFill>
              <a:srgbClr val="D6DCE3"/>
            </a:solidFill>
            <a:prstDash val="solid"/>
          </a:ln>
        </p:spPr>
      </p:sp>
      <p:sp>
        <p:nvSpPr>
          <p:cNvPr id="5" name="주석 박스 1"/>
          <p:cNvSpPr/>
          <p:nvPr/>
        </p:nvSpPr>
        <p:spPr>
          <a:xfrm>
            <a:off x="541325" y="1489558"/>
            <a:ext cx="4815230" cy="365760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6" name="주석 번호 1"/>
          <p:cNvSpPr/>
          <p:nvPr/>
        </p:nvSpPr>
        <p:spPr>
          <a:xfrm>
            <a:off x="5219395" y="1370686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주석 번호 글자 1"/>
          <p:cNvSpPr txBox="1"/>
          <p:nvPr/>
        </p:nvSpPr>
        <p:spPr>
          <a:xfrm>
            <a:off x="5219395" y="13706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주석 박스 2"/>
          <p:cNvSpPr/>
          <p:nvPr/>
        </p:nvSpPr>
        <p:spPr>
          <a:xfrm>
            <a:off x="541325" y="2318918"/>
            <a:ext cx="4815230" cy="247802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9" name="주석 번호 2"/>
          <p:cNvSpPr/>
          <p:nvPr/>
        </p:nvSpPr>
        <p:spPr>
          <a:xfrm>
            <a:off x="422453" y="2200046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주석 번호 글자 2"/>
          <p:cNvSpPr txBox="1"/>
          <p:nvPr/>
        </p:nvSpPr>
        <p:spPr>
          <a:xfrm>
            <a:off x="422453" y="22000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주석 박스 3"/>
          <p:cNvSpPr/>
          <p:nvPr/>
        </p:nvSpPr>
        <p:spPr>
          <a:xfrm>
            <a:off x="541325" y="2590495"/>
            <a:ext cx="4815230" cy="247802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2" name="주석 번호 3"/>
          <p:cNvSpPr/>
          <p:nvPr/>
        </p:nvSpPr>
        <p:spPr>
          <a:xfrm>
            <a:off x="422453" y="2471623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주석 번호 글자 3"/>
          <p:cNvSpPr txBox="1"/>
          <p:nvPr/>
        </p:nvSpPr>
        <p:spPr>
          <a:xfrm>
            <a:off x="422453" y="24716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주석 박스 4"/>
          <p:cNvSpPr/>
          <p:nvPr/>
        </p:nvSpPr>
        <p:spPr>
          <a:xfrm>
            <a:off x="676656" y="3401568"/>
            <a:ext cx="4543654" cy="386791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5" name="주석 번호 4"/>
          <p:cNvSpPr/>
          <p:nvPr/>
        </p:nvSpPr>
        <p:spPr>
          <a:xfrm>
            <a:off x="557784" y="3282696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주석 번호 글자 4"/>
          <p:cNvSpPr txBox="1"/>
          <p:nvPr/>
        </p:nvSpPr>
        <p:spPr>
          <a:xfrm>
            <a:off x="557784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주석 박스 5"/>
          <p:cNvSpPr/>
          <p:nvPr/>
        </p:nvSpPr>
        <p:spPr>
          <a:xfrm>
            <a:off x="676656" y="4865522"/>
            <a:ext cx="4543654" cy="707746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8" name="주석 번호 5"/>
          <p:cNvSpPr/>
          <p:nvPr/>
        </p:nvSpPr>
        <p:spPr>
          <a:xfrm>
            <a:off x="557784" y="5436108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주석 번호 글자 5"/>
          <p:cNvSpPr txBox="1"/>
          <p:nvPr/>
        </p:nvSpPr>
        <p:spPr>
          <a:xfrm>
            <a:off x="557784" y="54361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설명 번호 1"/>
          <p:cNvSpPr/>
          <p:nvPr/>
        </p:nvSpPr>
        <p:spPr>
          <a:xfrm>
            <a:off x="5760720" y="101498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760720" y="1014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22" name="설명 1"/>
          <p:cNvSpPr txBox="1"/>
          <p:nvPr/>
        </p:nvSpPr>
        <p:spPr>
          <a:xfrm>
            <a:off x="6108192" y="1005840"/>
            <a:ext cx="5623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시나리오로 채우기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화면 편의 기능 — API 영향 없음</a:t>
            </a:r>
            <a:endParaRPr lang="en-US" sz="1200" dirty="0"/>
          </a:p>
        </p:txBody>
      </p:sp>
      <p:sp>
        <p:nvSpPr>
          <p:cNvPr id="23" name="설명 번호 2"/>
          <p:cNvSpPr/>
          <p:nvPr/>
        </p:nvSpPr>
        <p:spPr>
          <a:xfrm>
            <a:off x="5760720" y="1536192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760720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25" name="설명 2"/>
          <p:cNvSpPr txBox="1"/>
          <p:nvPr/>
        </p:nvSpPr>
        <p:spPr>
          <a:xfrm>
            <a:off x="6108192" y="1527048"/>
            <a:ext cx="5623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재난유형 (선택 안 함 가능)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context.disasterType</a:t>
            </a:r>
            <a:endParaRPr lang="en-US" sz="1200" dirty="0"/>
          </a:p>
        </p:txBody>
      </p:sp>
      <p:sp>
        <p:nvSpPr>
          <p:cNvPr id="26" name="설명 번호 3"/>
          <p:cNvSpPr/>
          <p:nvPr/>
        </p:nvSpPr>
        <p:spPr>
          <a:xfrm>
            <a:off x="5760720" y="205740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760720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8" name="설명 3"/>
          <p:cNvSpPr txBox="1"/>
          <p:nvPr/>
        </p:nvSpPr>
        <p:spPr>
          <a:xfrm>
            <a:off x="6108192" y="2048256"/>
            <a:ext cx="5623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발생·기준일시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context.baseTime · endTime (기준지역 + 기준시각)</a:t>
            </a:r>
            <a:endParaRPr lang="en-US" sz="1200" dirty="0"/>
          </a:p>
        </p:txBody>
      </p:sp>
      <p:sp>
        <p:nvSpPr>
          <p:cNvPr id="29" name="설명 번호 4"/>
          <p:cNvSpPr/>
          <p:nvPr/>
        </p:nvSpPr>
        <p:spPr>
          <a:xfrm>
            <a:off x="5760720" y="2578608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760720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31" name="설명 4"/>
          <p:cNvSpPr txBox="1"/>
          <p:nvPr/>
        </p:nvSpPr>
        <p:spPr>
          <a:xfrm>
            <a:off x="6108192" y="2569464"/>
            <a:ext cx="5623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특보종류 · 경보단계 · 키워드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context.situationKind · keywords</a:t>
            </a:r>
            <a:endParaRPr lang="en-US" sz="1200" dirty="0"/>
          </a:p>
        </p:txBody>
      </p:sp>
      <p:sp>
        <p:nvSpPr>
          <p:cNvPr id="32" name="설명 번호 5"/>
          <p:cNvSpPr/>
          <p:nvPr/>
        </p:nvSpPr>
        <p:spPr>
          <a:xfrm>
            <a:off x="5760720" y="3099816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76072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34" name="설명 5"/>
          <p:cNvSpPr txBox="1"/>
          <p:nvPr/>
        </p:nvSpPr>
        <p:spPr>
          <a:xfrm>
            <a:off x="6108192" y="309067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강우 1/3/6/12/24h · 수위 · 유량 · 풍속 · 습도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context.hydro — 02 핵심 표시항목(C)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→ 03 DQ-04-003 '현재조건 입력값'으로 다시 비교됨</a:t>
            </a:r>
            <a:endParaRPr lang="en-US" sz="1200" dirty="0"/>
          </a:p>
        </p:txBody>
      </p:sp>
      <p:sp>
        <p:nvSpPr>
          <p:cNvPr id="35" name="context 예시 상자"/>
          <p:cNvSpPr/>
          <p:nvPr/>
        </p:nvSpPr>
        <p:spPr>
          <a:xfrm>
            <a:off x="5760720" y="3831336"/>
            <a:ext cx="5989320" cy="1613002"/>
          </a:xfrm>
          <a:prstGeom prst="roundRect">
            <a:avLst>
              <a:gd name="adj" fmla="val 2834"/>
            </a:avLst>
          </a:prstGeom>
          <a:solidFill>
            <a:srgbClr val="F7F8FA"/>
          </a:solidFill>
          <a:ln w="9525">
            <a:solidFill>
              <a:srgbClr val="D6DCE3"/>
            </a:solidFill>
            <a:prstDash val="solid"/>
          </a:ln>
        </p:spPr>
      </p:sp>
      <p:sp>
        <p:nvSpPr>
          <p:cNvPr id="36" name="context 예시"/>
          <p:cNvSpPr txBox="1"/>
          <p:nvPr/>
        </p:nvSpPr>
        <p:spPr>
          <a:xfrm>
            <a:off x="5897880" y="3968496"/>
            <a:ext cx="5715000" cy="133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"context": {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"region": "busan",          // 헤더 기준지역 (항상)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"aiMode": false,             // 꺼짐 = 입력 조건만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"disasterType": "호우",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"situationKind": { "type": "호우", "level": "주의보"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"keywords": ["하상도로"],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"hydro": { "rain1h": 30, "waterLevel": 2.4 }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5760720" y="5490058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882"/>
                </a:solidFill>
              </a:rPr>
              <a:t>→ Agent 질의(T3Q-01)에 함께 실리는 context 예시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② 기상특보 현황·질의 진입(GR-02) — 특보를 참조로 걸어 질문</a:t>
            </a:r>
            <a:endParaRPr lang="en-US" sz="2600" dirty="0"/>
          </a:p>
        </p:txBody>
      </p:sp>
      <p:pic>
        <p:nvPicPr>
          <p:cNvPr id="3" name="화면 G2_pick" descr="시범서비스 화면 캡처 (G2_pic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11338560" cy="1190549"/>
          </a:xfrm>
          <a:prstGeom prst="rect">
            <a:avLst/>
          </a:prstGeom>
        </p:spPr>
      </p:pic>
      <p:sp>
        <p:nvSpPr>
          <p:cNvPr id="4" name="화면 테두리"/>
          <p:cNvSpPr/>
          <p:nvPr/>
        </p:nvSpPr>
        <p:spPr>
          <a:xfrm>
            <a:off x="411480" y="960120"/>
            <a:ext cx="11338560" cy="1190549"/>
          </a:xfrm>
          <a:prstGeom prst="rect">
            <a:avLst/>
          </a:prstGeom>
          <a:ln w="9525">
            <a:solidFill>
              <a:srgbClr val="D6DCE3"/>
            </a:solidFill>
            <a:prstDash val="solid"/>
          </a:ln>
        </p:spPr>
      </p:sp>
      <p:sp>
        <p:nvSpPr>
          <p:cNvPr id="5" name="주석 박스 1"/>
          <p:cNvSpPr/>
          <p:nvPr/>
        </p:nvSpPr>
        <p:spPr>
          <a:xfrm>
            <a:off x="581558" y="1016813"/>
            <a:ext cx="5385816" cy="311810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6" name="주석 번호 1"/>
          <p:cNvSpPr/>
          <p:nvPr/>
        </p:nvSpPr>
        <p:spPr>
          <a:xfrm>
            <a:off x="462686" y="897941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주석 번호 글자 1"/>
          <p:cNvSpPr txBox="1"/>
          <p:nvPr/>
        </p:nvSpPr>
        <p:spPr>
          <a:xfrm>
            <a:off x="462686" y="89794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주석 박스 2"/>
          <p:cNvSpPr/>
          <p:nvPr/>
        </p:nvSpPr>
        <p:spPr>
          <a:xfrm>
            <a:off x="10804550" y="1024128"/>
            <a:ext cx="803758" cy="283464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9" name="주석 번호 2"/>
          <p:cNvSpPr/>
          <p:nvPr/>
        </p:nvSpPr>
        <p:spPr>
          <a:xfrm>
            <a:off x="11471148" y="905256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주석 번호 글자 2"/>
          <p:cNvSpPr txBox="1"/>
          <p:nvPr/>
        </p:nvSpPr>
        <p:spPr>
          <a:xfrm>
            <a:off x="11471148" y="905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주석 박스 3"/>
          <p:cNvSpPr/>
          <p:nvPr/>
        </p:nvSpPr>
        <p:spPr>
          <a:xfrm>
            <a:off x="9283903" y="1292962"/>
            <a:ext cx="2324405" cy="808330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2" name="주석 번호 3"/>
          <p:cNvSpPr/>
          <p:nvPr/>
        </p:nvSpPr>
        <p:spPr>
          <a:xfrm>
            <a:off x="11471148" y="1964131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주석 번호 글자 3"/>
          <p:cNvSpPr txBox="1"/>
          <p:nvPr/>
        </p:nvSpPr>
        <p:spPr>
          <a:xfrm>
            <a:off x="11471148" y="19641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pic>
        <p:nvPicPr>
          <p:cNvPr id="14" name="화면 G2_ref" descr="시범서비스 화면 캡처 (G2_ref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79269"/>
            <a:ext cx="6675120" cy="3055010"/>
          </a:xfrm>
          <a:prstGeom prst="rect">
            <a:avLst/>
          </a:prstGeom>
        </p:spPr>
      </p:pic>
      <p:sp>
        <p:nvSpPr>
          <p:cNvPr id="15" name="화면 테두리"/>
          <p:cNvSpPr/>
          <p:nvPr/>
        </p:nvSpPr>
        <p:spPr>
          <a:xfrm>
            <a:off x="411480" y="2379269"/>
            <a:ext cx="6675120" cy="3055010"/>
          </a:xfrm>
          <a:prstGeom prst="rect">
            <a:avLst/>
          </a:prstGeom>
          <a:ln w="9525">
            <a:solidFill>
              <a:srgbClr val="D6DCE3"/>
            </a:solidFill>
            <a:prstDash val="solid"/>
          </a:ln>
        </p:spPr>
      </p:sp>
      <p:sp>
        <p:nvSpPr>
          <p:cNvPr id="16" name="주석 박스 4"/>
          <p:cNvSpPr/>
          <p:nvPr/>
        </p:nvSpPr>
        <p:spPr>
          <a:xfrm>
            <a:off x="502006" y="2458822"/>
            <a:ext cx="4344314" cy="1004011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7" name="주석 번호 4"/>
          <p:cNvSpPr/>
          <p:nvPr/>
        </p:nvSpPr>
        <p:spPr>
          <a:xfrm>
            <a:off x="383134" y="2339950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주석 번호 글자 4"/>
          <p:cNvSpPr txBox="1"/>
          <p:nvPr/>
        </p:nvSpPr>
        <p:spPr>
          <a:xfrm>
            <a:off x="383134" y="233995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주석 박스 5"/>
          <p:cNvSpPr/>
          <p:nvPr/>
        </p:nvSpPr>
        <p:spPr>
          <a:xfrm>
            <a:off x="502006" y="3564331"/>
            <a:ext cx="4344314" cy="1021385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20" name="주석 번호 5"/>
          <p:cNvSpPr/>
          <p:nvPr/>
        </p:nvSpPr>
        <p:spPr>
          <a:xfrm>
            <a:off x="383134" y="3445459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주석 번호 글자 5"/>
          <p:cNvSpPr txBox="1"/>
          <p:nvPr/>
        </p:nvSpPr>
        <p:spPr>
          <a:xfrm>
            <a:off x="383134" y="344545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주석 박스 6"/>
          <p:cNvSpPr/>
          <p:nvPr/>
        </p:nvSpPr>
        <p:spPr>
          <a:xfrm>
            <a:off x="411480" y="4534510"/>
            <a:ext cx="4745736" cy="237744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23" name="주석 번호 6"/>
          <p:cNvSpPr/>
          <p:nvPr/>
        </p:nvSpPr>
        <p:spPr>
          <a:xfrm>
            <a:off x="292608" y="4635094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주석 번호 글자 6"/>
          <p:cNvSpPr txBox="1"/>
          <p:nvPr/>
        </p:nvSpPr>
        <p:spPr>
          <a:xfrm>
            <a:off x="292608" y="463509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5" name="설명 번호 1"/>
          <p:cNvSpPr/>
          <p:nvPr/>
        </p:nvSpPr>
        <p:spPr>
          <a:xfrm>
            <a:off x="7360920" y="2388413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360920" y="23884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27" name="설명 1"/>
          <p:cNvSpPr txBox="1"/>
          <p:nvPr/>
        </p:nvSpPr>
        <p:spPr>
          <a:xfrm>
            <a:off x="7708392" y="2379269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특보 현황 (긴급 · 특보명 · 발표시각)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02 핵심 표시항목(C): 특보종류·단계·대상지역·발표/발효시각·조회상태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기상청 특보 조회 API — T3Q 상세조회 대상 아님</a:t>
            </a:r>
            <a:endParaRPr lang="en-US" sz="1200" dirty="0"/>
          </a:p>
        </p:txBody>
      </p:sp>
      <p:sp>
        <p:nvSpPr>
          <p:cNvPr id="28" name="설명 번호 2"/>
          <p:cNvSpPr/>
          <p:nvPr/>
        </p:nvSpPr>
        <p:spPr>
          <a:xfrm>
            <a:off x="7360920" y="3220517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60920" y="322051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30" name="설명 2"/>
          <p:cNvSpPr txBox="1"/>
          <p:nvPr/>
        </p:nvSpPr>
        <p:spPr>
          <a:xfrm>
            <a:off x="7708392" y="3211373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특보로 질문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진입 경로: 기준지역 특보 조회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AI 모드 중에는 비활성 (현재 특보가 자동 반영)</a:t>
            </a:r>
            <a:endParaRPr lang="en-US" sz="1200" dirty="0"/>
          </a:p>
        </p:txBody>
      </p:sp>
      <p:sp>
        <p:nvSpPr>
          <p:cNvPr id="31" name="설명 번호 3"/>
          <p:cNvSpPr/>
          <p:nvPr/>
        </p:nvSpPr>
        <p:spPr>
          <a:xfrm>
            <a:off x="7360920" y="3878885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360920" y="38788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33" name="설명 3"/>
          <p:cNvSpPr txBox="1"/>
          <p:nvPr/>
        </p:nvSpPr>
        <p:spPr>
          <a:xfrm>
            <a:off x="7708392" y="3869741"/>
            <a:ext cx="4023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여러 건이면 특보 선택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조회·연결 식별자: 특보 식별/기준시점 정보</a:t>
            </a:r>
            <a:endParaRPr lang="en-US" sz="1200" dirty="0"/>
          </a:p>
        </p:txBody>
      </p:sp>
      <p:sp>
        <p:nvSpPr>
          <p:cNvPr id="34" name="설명 번호 4"/>
          <p:cNvSpPr/>
          <p:nvPr/>
        </p:nvSpPr>
        <p:spPr>
          <a:xfrm>
            <a:off x="7360920" y="4363517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7360920" y="436351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36" name="설명 4"/>
          <p:cNvSpPr txBox="1"/>
          <p:nvPr/>
        </p:nvSpPr>
        <p:spPr>
          <a:xfrm>
            <a:off x="7708392" y="4354373"/>
            <a:ext cx="4023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브리핑의 '적용 조건'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GR-01 입력 조건 + GR-02 참조 특보</a:t>
            </a:r>
            <a:endParaRPr lang="en-US" sz="1200" dirty="0"/>
          </a:p>
        </p:txBody>
      </p:sp>
      <p:sp>
        <p:nvSpPr>
          <p:cNvPr id="37" name="설명 번호 5"/>
          <p:cNvSpPr/>
          <p:nvPr/>
        </p:nvSpPr>
        <p:spPr>
          <a:xfrm>
            <a:off x="7360920" y="4848149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7360920" y="484814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39" name="설명 5"/>
          <p:cNvSpPr txBox="1"/>
          <p:nvPr/>
        </p:nvSpPr>
        <p:spPr>
          <a:xfrm>
            <a:off x="7708392" y="4839005"/>
            <a:ext cx="4023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특보 기반 빠른질의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02 관련 정보 연결: 특보 기반 빠른질의</a:t>
            </a:r>
            <a:endParaRPr lang="en-US" sz="1200" dirty="0"/>
          </a:p>
        </p:txBody>
      </p:sp>
      <p:sp>
        <p:nvSpPr>
          <p:cNvPr id="40" name="설명 번호 6"/>
          <p:cNvSpPr/>
          <p:nvPr/>
        </p:nvSpPr>
        <p:spPr>
          <a:xfrm>
            <a:off x="7360920" y="5332781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7360920" y="533278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42" name="설명 6"/>
          <p:cNvSpPr txBox="1"/>
          <p:nvPr/>
        </p:nvSpPr>
        <p:spPr>
          <a:xfrm>
            <a:off x="7708392" y="5323637"/>
            <a:ext cx="4023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입력창 참조 칩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context.refAdvisory — 질문과 함께 전달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③ AI 모드 상황점검(GR-03)과 추천질문(GR-21)</a:t>
            </a:r>
            <a:endParaRPr lang="en-US" sz="2600" dirty="0"/>
          </a:p>
        </p:txBody>
      </p:sp>
      <p:pic>
        <p:nvPicPr>
          <p:cNvPr id="3" name="화면 E_aim" descr="시범서비스 화면 캡처 (E_aim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7589520" cy="3630168"/>
          </a:xfrm>
          <a:prstGeom prst="rect">
            <a:avLst/>
          </a:prstGeom>
        </p:spPr>
      </p:pic>
      <p:sp>
        <p:nvSpPr>
          <p:cNvPr id="4" name="화면 테두리"/>
          <p:cNvSpPr/>
          <p:nvPr/>
        </p:nvSpPr>
        <p:spPr>
          <a:xfrm>
            <a:off x="411480" y="1005840"/>
            <a:ext cx="7589520" cy="3630168"/>
          </a:xfrm>
          <a:prstGeom prst="rect">
            <a:avLst/>
          </a:prstGeom>
          <a:ln w="9525">
            <a:solidFill>
              <a:srgbClr val="D6DCE3"/>
            </a:solidFill>
            <a:prstDash val="solid"/>
          </a:ln>
        </p:spPr>
      </p:sp>
      <p:sp>
        <p:nvSpPr>
          <p:cNvPr id="5" name="주석 박스 1"/>
          <p:cNvSpPr/>
          <p:nvPr/>
        </p:nvSpPr>
        <p:spPr>
          <a:xfrm>
            <a:off x="1764792" y="1237183"/>
            <a:ext cx="4026103" cy="541325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6" name="주석 번호 1"/>
          <p:cNvSpPr/>
          <p:nvPr/>
        </p:nvSpPr>
        <p:spPr>
          <a:xfrm>
            <a:off x="1645920" y="1118311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주석 번호 글자 1"/>
          <p:cNvSpPr txBox="1"/>
          <p:nvPr/>
        </p:nvSpPr>
        <p:spPr>
          <a:xfrm>
            <a:off x="1645920" y="11183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주석 박스 2"/>
          <p:cNvSpPr/>
          <p:nvPr/>
        </p:nvSpPr>
        <p:spPr>
          <a:xfrm>
            <a:off x="1764792" y="1830629"/>
            <a:ext cx="4026103" cy="383134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9" name="주석 번호 2"/>
          <p:cNvSpPr/>
          <p:nvPr/>
        </p:nvSpPr>
        <p:spPr>
          <a:xfrm>
            <a:off x="1645920" y="2076602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주석 번호 글자 2"/>
          <p:cNvSpPr txBox="1"/>
          <p:nvPr/>
        </p:nvSpPr>
        <p:spPr>
          <a:xfrm>
            <a:off x="1645920" y="207660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주석 박스 3"/>
          <p:cNvSpPr/>
          <p:nvPr/>
        </p:nvSpPr>
        <p:spPr>
          <a:xfrm>
            <a:off x="5961888" y="1910182"/>
            <a:ext cx="1768450" cy="369418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2" name="주석 번호 3"/>
          <p:cNvSpPr/>
          <p:nvPr/>
        </p:nvSpPr>
        <p:spPr>
          <a:xfrm>
            <a:off x="7593178" y="1791310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주석 번호 글자 3"/>
          <p:cNvSpPr txBox="1"/>
          <p:nvPr/>
        </p:nvSpPr>
        <p:spPr>
          <a:xfrm>
            <a:off x="7593178" y="179131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주석 박스 4"/>
          <p:cNvSpPr/>
          <p:nvPr/>
        </p:nvSpPr>
        <p:spPr>
          <a:xfrm>
            <a:off x="682142" y="2745029"/>
            <a:ext cx="7048195" cy="923544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5" name="주석 번호 4"/>
          <p:cNvSpPr/>
          <p:nvPr/>
        </p:nvSpPr>
        <p:spPr>
          <a:xfrm>
            <a:off x="563270" y="2626157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주석 번호 글자 4"/>
          <p:cNvSpPr txBox="1"/>
          <p:nvPr/>
        </p:nvSpPr>
        <p:spPr>
          <a:xfrm>
            <a:off x="563270" y="262615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주석 박스 5"/>
          <p:cNvSpPr/>
          <p:nvPr/>
        </p:nvSpPr>
        <p:spPr>
          <a:xfrm>
            <a:off x="483718" y="4008730"/>
            <a:ext cx="7444130" cy="594360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8" name="주석 번호 5"/>
          <p:cNvSpPr/>
          <p:nvPr/>
        </p:nvSpPr>
        <p:spPr>
          <a:xfrm>
            <a:off x="364846" y="4465930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주석 번호 글자 5"/>
          <p:cNvSpPr txBox="1"/>
          <p:nvPr/>
        </p:nvSpPr>
        <p:spPr>
          <a:xfrm>
            <a:off x="364846" y="44659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설명 번호 1"/>
          <p:cNvSpPr/>
          <p:nvPr/>
        </p:nvSpPr>
        <p:spPr>
          <a:xfrm>
            <a:off x="8229600" y="101498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29600" y="1014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22" name="설명 1"/>
          <p:cNvSpPr txBox="1"/>
          <p:nvPr/>
        </p:nvSpPr>
        <p:spPr>
          <a:xfrm>
            <a:off x="8577072" y="100584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특보 · 단계 · 발생일시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DQ-03-002 특보 안내 (+ GR-02 특보 조회)</a:t>
            </a:r>
            <a:endParaRPr lang="en-US" sz="1200" dirty="0"/>
          </a:p>
        </p:txBody>
      </p:sp>
      <p:sp>
        <p:nvSpPr>
          <p:cNvPr id="23" name="설명 번호 2"/>
          <p:cNvSpPr/>
          <p:nvPr/>
        </p:nvSpPr>
        <p:spPr>
          <a:xfrm>
            <a:off x="8229600" y="1764792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229600" y="1764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25" name="설명 2"/>
          <p:cNvSpPr txBox="1"/>
          <p:nvPr/>
        </p:nvSpPr>
        <p:spPr>
          <a:xfrm>
            <a:off x="8577072" y="175564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판단 메시지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DQ-03-001 판단·근거 (필수 응답)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상황확인/대응착수 우선검토 판단 · 참조 사건/문서</a:t>
            </a:r>
            <a:endParaRPr lang="en-US" sz="1200" dirty="0"/>
          </a:p>
        </p:txBody>
      </p:sp>
      <p:sp>
        <p:nvSpPr>
          <p:cNvPr id="26" name="설명 번호 3"/>
          <p:cNvSpPr/>
          <p:nvPr/>
        </p:nvSpPr>
        <p:spPr>
          <a:xfrm>
            <a:off x="8229600" y="251460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229600" y="2514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8" name="설명 3"/>
          <p:cNvSpPr txBox="1"/>
          <p:nvPr/>
        </p:nvSpPr>
        <p:spPr>
          <a:xfrm>
            <a:off x="8577072" y="2505456"/>
            <a:ext cx="3154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브리핑하기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T3Q-02 브리핑 순차 호출</a:t>
            </a:r>
            <a:endParaRPr lang="en-US" sz="1200" dirty="0"/>
          </a:p>
        </p:txBody>
      </p:sp>
      <p:sp>
        <p:nvSpPr>
          <p:cNvPr id="29" name="설명 번호 4"/>
          <p:cNvSpPr/>
          <p:nvPr/>
        </p:nvSpPr>
        <p:spPr>
          <a:xfrm>
            <a:off x="8229600" y="3090672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229600" y="3090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31" name="설명 4"/>
          <p:cNvSpPr txBox="1"/>
          <p:nvPr/>
        </p:nvSpPr>
        <p:spPr>
          <a:xfrm>
            <a:off x="8577072" y="308152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추천 질문 5개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GR-21 DQ-21-001 후속 추천질문 (필수 응답)</a:t>
            </a:r>
            <a:endParaRPr lang="en-US" sz="1200" dirty="0"/>
          </a:p>
        </p:txBody>
      </p:sp>
      <p:sp>
        <p:nvSpPr>
          <p:cNvPr id="32" name="설명 번호 5"/>
          <p:cNvSpPr/>
          <p:nvPr/>
        </p:nvSpPr>
        <p:spPr>
          <a:xfrm>
            <a:off x="8229600" y="384048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0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34" name="설명 5"/>
          <p:cNvSpPr txBox="1"/>
          <p:nvPr/>
        </p:nvSpPr>
        <p:spPr>
          <a:xfrm>
            <a:off x="8577072" y="383133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자동 점검 이력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DQ-03-001 기준지역·기준시각·요청 식별자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10분 주기 + 특보 변경 시 즉시</a:t>
            </a:r>
            <a:endParaRPr lang="en-US" sz="1200" dirty="0"/>
          </a:p>
        </p:txBody>
      </p:sp>
      <p:sp>
        <p:nvSpPr>
          <p:cNvPr id="35" name="안내 상자"/>
          <p:cNvSpPr/>
          <p:nvPr/>
        </p:nvSpPr>
        <p:spPr>
          <a:xfrm>
            <a:off x="411480" y="4892040"/>
            <a:ext cx="7589520" cy="777240"/>
          </a:xfrm>
          <a:prstGeom prst="roundRect">
            <a:avLst>
              <a:gd name="adj" fmla="val 7059"/>
            </a:avLst>
          </a:prstGeom>
          <a:solidFill>
            <a:srgbClr val="F3F5F8"/>
          </a:solidFill>
          <a:ln/>
        </p:spPr>
      </p:sp>
      <p:sp>
        <p:nvSpPr>
          <p:cNvPr id="36" name="안내 문구"/>
          <p:cNvSpPr txBox="1"/>
          <p:nvPr/>
        </p:nvSpPr>
        <p:spPr>
          <a:xfrm>
            <a:off x="576072" y="4892040"/>
            <a:ext cx="7260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124"/>
                </a:solidFill>
              </a:rPr>
              <a:t>AI 모드가 켜지면 요청 context에 aiMode와 현재 발효 특보가 함께 간다. 꺼지면 사용자가 입력한 재난상황 조건(+참조 특보)만 간다 — 같은 질문이라도 응답 기준이 달라지므로 T3Q 응답에 판단 기준(특보/입력 조건)을 표시해 달라고 요청한다.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④ 과거 사례(GR-04 ~ 09) — 재난마스터 ID로 묶는다</a:t>
            </a:r>
            <a:endParaRPr lang="en-US" sz="2600" dirty="0"/>
          </a:p>
        </p:txBody>
      </p:sp>
      <p:pic>
        <p:nvPicPr>
          <p:cNvPr id="3" name="화면 C_event_info" descr="시범서비스 화면 캡처 (C_event_info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11338560" cy="3249778"/>
          </a:xfrm>
          <a:prstGeom prst="rect">
            <a:avLst/>
          </a:prstGeom>
        </p:spPr>
      </p:pic>
      <p:sp>
        <p:nvSpPr>
          <p:cNvPr id="4" name="화면 테두리"/>
          <p:cNvSpPr/>
          <p:nvPr/>
        </p:nvSpPr>
        <p:spPr>
          <a:xfrm>
            <a:off x="411480" y="1005840"/>
            <a:ext cx="11338560" cy="3249778"/>
          </a:xfrm>
          <a:prstGeom prst="rect">
            <a:avLst/>
          </a:prstGeom>
          <a:ln w="9525">
            <a:solidFill>
              <a:srgbClr val="D6DCE3"/>
            </a:solidFill>
            <a:prstDash val="solid"/>
          </a:ln>
        </p:spPr>
      </p:sp>
      <p:sp>
        <p:nvSpPr>
          <p:cNvPr id="5" name="주석 박스 1"/>
          <p:cNvSpPr/>
          <p:nvPr/>
        </p:nvSpPr>
        <p:spPr>
          <a:xfrm>
            <a:off x="548640" y="1698955"/>
            <a:ext cx="4983480" cy="1360627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6" name="주석 번호 1"/>
          <p:cNvSpPr/>
          <p:nvPr/>
        </p:nvSpPr>
        <p:spPr>
          <a:xfrm>
            <a:off x="429768" y="1580083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주석 번호 글자 1"/>
          <p:cNvSpPr txBox="1"/>
          <p:nvPr/>
        </p:nvSpPr>
        <p:spPr>
          <a:xfrm>
            <a:off x="429768" y="15800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주석 박스 2"/>
          <p:cNvSpPr/>
          <p:nvPr/>
        </p:nvSpPr>
        <p:spPr>
          <a:xfrm>
            <a:off x="6051499" y="1296619"/>
            <a:ext cx="1769364" cy="23134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9" name="주석 번호 2"/>
          <p:cNvSpPr/>
          <p:nvPr/>
        </p:nvSpPr>
        <p:spPr>
          <a:xfrm>
            <a:off x="5932627" y="1177747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주석 번호 글자 2"/>
          <p:cNvSpPr txBox="1"/>
          <p:nvPr/>
        </p:nvSpPr>
        <p:spPr>
          <a:xfrm>
            <a:off x="5932627" y="11777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주석 박스 3"/>
          <p:cNvSpPr/>
          <p:nvPr/>
        </p:nvSpPr>
        <p:spPr>
          <a:xfrm>
            <a:off x="6088075" y="1583741"/>
            <a:ext cx="657454" cy="331927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2" name="주석 번호 3"/>
          <p:cNvSpPr/>
          <p:nvPr/>
        </p:nvSpPr>
        <p:spPr>
          <a:xfrm>
            <a:off x="5969203" y="1778508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주석 번호 글자 3"/>
          <p:cNvSpPr txBox="1"/>
          <p:nvPr/>
        </p:nvSpPr>
        <p:spPr>
          <a:xfrm>
            <a:off x="5969203" y="17785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주석 박스 4"/>
          <p:cNvSpPr/>
          <p:nvPr/>
        </p:nvSpPr>
        <p:spPr>
          <a:xfrm>
            <a:off x="6051499" y="2010766"/>
            <a:ext cx="5502859" cy="1195121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5" name="주석 번호 4"/>
          <p:cNvSpPr/>
          <p:nvPr/>
        </p:nvSpPr>
        <p:spPr>
          <a:xfrm>
            <a:off x="5932627" y="3068726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주석 번호 글자 4"/>
          <p:cNvSpPr txBox="1"/>
          <p:nvPr/>
        </p:nvSpPr>
        <p:spPr>
          <a:xfrm>
            <a:off x="5932627" y="30687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주석 박스 5"/>
          <p:cNvSpPr/>
          <p:nvPr/>
        </p:nvSpPr>
        <p:spPr>
          <a:xfrm>
            <a:off x="6763817" y="1583741"/>
            <a:ext cx="1328623" cy="331927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8" name="주석 번호 5"/>
          <p:cNvSpPr/>
          <p:nvPr/>
        </p:nvSpPr>
        <p:spPr>
          <a:xfrm>
            <a:off x="7955280" y="1464869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주석 번호 글자 5"/>
          <p:cNvSpPr txBox="1"/>
          <p:nvPr/>
        </p:nvSpPr>
        <p:spPr>
          <a:xfrm>
            <a:off x="7955280" y="146486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주석 박스 6"/>
          <p:cNvSpPr/>
          <p:nvPr/>
        </p:nvSpPr>
        <p:spPr>
          <a:xfrm>
            <a:off x="548640" y="3201314"/>
            <a:ext cx="4983480" cy="1046988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21" name="주석 번호 6"/>
          <p:cNvSpPr/>
          <p:nvPr/>
        </p:nvSpPr>
        <p:spPr>
          <a:xfrm>
            <a:off x="429768" y="3082442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주석 번호 글자 6"/>
          <p:cNvSpPr txBox="1"/>
          <p:nvPr/>
        </p:nvSpPr>
        <p:spPr>
          <a:xfrm>
            <a:off x="429768" y="308244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3" name="주석 박스 7"/>
          <p:cNvSpPr/>
          <p:nvPr/>
        </p:nvSpPr>
        <p:spPr>
          <a:xfrm>
            <a:off x="8791956" y="1583741"/>
            <a:ext cx="657454" cy="331927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24" name="주석 번호 7"/>
          <p:cNvSpPr/>
          <p:nvPr/>
        </p:nvSpPr>
        <p:spPr>
          <a:xfrm>
            <a:off x="9312250" y="1464869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주석 번호 글자 7"/>
          <p:cNvSpPr txBox="1"/>
          <p:nvPr/>
        </p:nvSpPr>
        <p:spPr>
          <a:xfrm>
            <a:off x="9312250" y="146486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26" name="주석 박스 8"/>
          <p:cNvSpPr/>
          <p:nvPr/>
        </p:nvSpPr>
        <p:spPr>
          <a:xfrm>
            <a:off x="9467698" y="1583741"/>
            <a:ext cx="657454" cy="331927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27" name="주석 번호 8"/>
          <p:cNvSpPr/>
          <p:nvPr/>
        </p:nvSpPr>
        <p:spPr>
          <a:xfrm>
            <a:off x="9987991" y="1464869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주석 번호 글자 8"/>
          <p:cNvSpPr txBox="1"/>
          <p:nvPr/>
        </p:nvSpPr>
        <p:spPr>
          <a:xfrm>
            <a:off x="9987991" y="146486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29" name="주석 박스 9"/>
          <p:cNvSpPr/>
          <p:nvPr/>
        </p:nvSpPr>
        <p:spPr>
          <a:xfrm>
            <a:off x="6045098" y="3273552"/>
            <a:ext cx="4448556" cy="21671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30" name="주석 번호 9"/>
          <p:cNvSpPr/>
          <p:nvPr/>
        </p:nvSpPr>
        <p:spPr>
          <a:xfrm>
            <a:off x="10356494" y="3353105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주석 번호 글자 9"/>
          <p:cNvSpPr txBox="1"/>
          <p:nvPr/>
        </p:nvSpPr>
        <p:spPr>
          <a:xfrm>
            <a:off x="10356494" y="335310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32" name="설명 번호 1"/>
          <p:cNvSpPr/>
          <p:nvPr/>
        </p:nvSpPr>
        <p:spPr>
          <a:xfrm>
            <a:off x="411480" y="4416552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11480" y="4416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34" name="설명 1"/>
          <p:cNvSpPr txBox="1"/>
          <p:nvPr/>
        </p:nvSpPr>
        <p:spPr>
          <a:xfrm>
            <a:off x="758952" y="4407408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답변 속 사건 칩 · 재난마스터 ID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GR-04 · DQ-04-001 기본정보 · DQ-04-008 사건 식별자</a:t>
            </a:r>
            <a:endParaRPr lang="en-US" sz="1200" dirty="0"/>
          </a:p>
        </p:txBody>
      </p:sp>
      <p:sp>
        <p:nvSpPr>
          <p:cNvPr id="35" name="설명 번호 2"/>
          <p:cNvSpPr/>
          <p:nvPr/>
        </p:nvSpPr>
        <p:spPr>
          <a:xfrm>
            <a:off x="4267505" y="4416552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267505" y="4416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37" name="설명 2"/>
          <p:cNvSpPr txBox="1"/>
          <p:nvPr/>
        </p:nvSpPr>
        <p:spPr>
          <a:xfrm>
            <a:off x="4614977" y="4407408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재난유형 · 상태 · ID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DQ-04-001 재난유형 · DQ-04-005 생애주기 상태</a:t>
            </a:r>
            <a:endParaRPr lang="en-US" sz="1200" dirty="0"/>
          </a:p>
        </p:txBody>
      </p:sp>
      <p:sp>
        <p:nvSpPr>
          <p:cNvPr id="38" name="설명 번호 3"/>
          <p:cNvSpPr/>
          <p:nvPr/>
        </p:nvSpPr>
        <p:spPr>
          <a:xfrm>
            <a:off x="8123530" y="4416552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8123530" y="4416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40" name="설명 3"/>
          <p:cNvSpPr txBox="1"/>
          <p:nvPr/>
        </p:nvSpPr>
        <p:spPr>
          <a:xfrm>
            <a:off x="8471002" y="4407408"/>
            <a:ext cx="326166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유사도 근거 탭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DQ-04-002 유사도·선정근거 (필수 응답)</a:t>
            </a:r>
            <a:endParaRPr lang="en-US" sz="1200" dirty="0"/>
          </a:p>
        </p:txBody>
      </p:sp>
      <p:sp>
        <p:nvSpPr>
          <p:cNvPr id="41" name="설명 번호 4"/>
          <p:cNvSpPr/>
          <p:nvPr/>
        </p:nvSpPr>
        <p:spPr>
          <a:xfrm>
            <a:off x="411480" y="5111496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11480" y="5111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43" name="설명 4"/>
          <p:cNvSpPr txBox="1"/>
          <p:nvPr/>
        </p:nvSpPr>
        <p:spPr>
          <a:xfrm>
            <a:off x="758952" y="5102352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요인별 비교 (현재 ↔ 과거 · 가중치)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DQ-04-003 영향요인 비교 · DQ-04-004 근거 (필수)</a:t>
            </a:r>
            <a:endParaRPr lang="en-US" sz="1200" dirty="0"/>
          </a:p>
        </p:txBody>
      </p:sp>
      <p:sp>
        <p:nvSpPr>
          <p:cNvPr id="44" name="설명 번호 5"/>
          <p:cNvSpPr/>
          <p:nvPr/>
        </p:nvSpPr>
        <p:spPr>
          <a:xfrm>
            <a:off x="4267505" y="5111496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267505" y="5111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46" name="설명 5"/>
          <p:cNvSpPr txBox="1"/>
          <p:nvPr/>
        </p:nvSpPr>
        <p:spPr>
          <a:xfrm>
            <a:off x="4614977" y="5102352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기본정보 · 피해·복구 탭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DQ-04-006·007 · GR-05 DQ-05-004·007·012·013</a:t>
            </a:r>
            <a:endParaRPr lang="en-US" sz="1200" dirty="0"/>
          </a:p>
        </p:txBody>
      </p:sp>
      <p:sp>
        <p:nvSpPr>
          <p:cNvPr id="47" name="설명 번호 6"/>
          <p:cNvSpPr/>
          <p:nvPr/>
        </p:nvSpPr>
        <p:spPr>
          <a:xfrm>
            <a:off x="8123530" y="5111496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8123530" y="5111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49" name="설명 6"/>
          <p:cNvSpPr txBox="1"/>
          <p:nvPr/>
        </p:nvSpPr>
        <p:spPr>
          <a:xfrm>
            <a:off x="8471002" y="5102352"/>
            <a:ext cx="326166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침수흔적 목록 · 침수흔적 탭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GR-09 DQ-09-001~004</a:t>
            </a:r>
            <a:endParaRPr lang="en-US" sz="1200" dirty="0"/>
          </a:p>
        </p:txBody>
      </p:sp>
      <p:sp>
        <p:nvSpPr>
          <p:cNvPr id="50" name="설명 번호 7"/>
          <p:cNvSpPr/>
          <p:nvPr/>
        </p:nvSpPr>
        <p:spPr>
          <a:xfrm>
            <a:off x="411480" y="580644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411480" y="5806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7</a:t>
            </a:r>
            <a:endParaRPr lang="en-US" sz="1050" dirty="0"/>
          </a:p>
        </p:txBody>
      </p:sp>
      <p:sp>
        <p:nvSpPr>
          <p:cNvPr id="52" name="설명 7"/>
          <p:cNvSpPr txBox="1"/>
          <p:nvPr/>
        </p:nvSpPr>
        <p:spPr>
          <a:xfrm>
            <a:off x="758952" y="5797296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사건 이력 탭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GR-05 DQ-05-001~006·009~011 · 119 = GR-08 DQ-08-001~007</a:t>
            </a:r>
            <a:endParaRPr lang="en-US" sz="1200" dirty="0"/>
          </a:p>
        </p:txBody>
      </p:sp>
      <p:sp>
        <p:nvSpPr>
          <p:cNvPr id="53" name="설명 번호 8"/>
          <p:cNvSpPr/>
          <p:nvPr/>
        </p:nvSpPr>
        <p:spPr>
          <a:xfrm>
            <a:off x="4267505" y="580644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267505" y="5806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8</a:t>
            </a:r>
            <a:endParaRPr lang="en-US" sz="1050" dirty="0"/>
          </a:p>
        </p:txBody>
      </p:sp>
      <p:sp>
        <p:nvSpPr>
          <p:cNvPr id="55" name="설명 8"/>
          <p:cNvSpPr txBox="1"/>
          <p:nvPr/>
        </p:nvSpPr>
        <p:spPr>
          <a:xfrm>
            <a:off x="4614977" y="5797296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위성영상 탭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GR-07 DQ-07-001~007 (없으면 미보유 사유 DQ-07-007)</a:t>
            </a:r>
            <a:endParaRPr lang="en-US" sz="1200" dirty="0"/>
          </a:p>
        </p:txBody>
      </p:sp>
      <p:sp>
        <p:nvSpPr>
          <p:cNvPr id="56" name="설명 번호 9"/>
          <p:cNvSpPr/>
          <p:nvPr/>
        </p:nvSpPr>
        <p:spPr>
          <a:xfrm>
            <a:off x="8123530" y="580644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8123530" y="5806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9</a:t>
            </a:r>
            <a:endParaRPr lang="en-US" sz="1050" dirty="0"/>
          </a:p>
        </p:txBody>
      </p:sp>
      <p:sp>
        <p:nvSpPr>
          <p:cNvPr id="58" name="설명 9"/>
          <p:cNvSpPr txBox="1"/>
          <p:nvPr/>
        </p:nvSpPr>
        <p:spPr>
          <a:xfrm>
            <a:off x="8471002" y="5797296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출처 데이터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DQ-04-008 출처·품질상태 · GR-19 DQ-19-001 공통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⑤ 위험·취약 대상(GR-10) — 목록에서 상세로, 근거·지도로</a:t>
            </a:r>
            <a:endParaRPr lang="en-US" sz="2600" dirty="0"/>
          </a:p>
        </p:txBody>
      </p:sp>
      <p:pic>
        <p:nvPicPr>
          <p:cNvPr id="3" name="화면 B_detail_sum" descr="시범서비스 화면 캡처 (B_detail_sum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11338560" cy="3538728"/>
          </a:xfrm>
          <a:prstGeom prst="rect">
            <a:avLst/>
          </a:prstGeom>
        </p:spPr>
      </p:pic>
      <p:sp>
        <p:nvSpPr>
          <p:cNvPr id="4" name="화면 테두리"/>
          <p:cNvSpPr/>
          <p:nvPr/>
        </p:nvSpPr>
        <p:spPr>
          <a:xfrm>
            <a:off x="411480" y="1005840"/>
            <a:ext cx="11338560" cy="3538728"/>
          </a:xfrm>
          <a:prstGeom prst="rect">
            <a:avLst/>
          </a:prstGeom>
          <a:ln w="9525">
            <a:solidFill>
              <a:srgbClr val="D6DCE3"/>
            </a:solidFill>
            <a:prstDash val="solid"/>
          </a:ln>
        </p:spPr>
      </p:sp>
      <p:sp>
        <p:nvSpPr>
          <p:cNvPr id="5" name="주석 박스 1"/>
          <p:cNvSpPr/>
          <p:nvPr/>
        </p:nvSpPr>
        <p:spPr>
          <a:xfrm>
            <a:off x="548640" y="1062533"/>
            <a:ext cx="2021738" cy="303581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6" name="주석 번호 1"/>
          <p:cNvSpPr/>
          <p:nvPr/>
        </p:nvSpPr>
        <p:spPr>
          <a:xfrm>
            <a:off x="429768" y="943661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주석 번호 글자 1"/>
          <p:cNvSpPr txBox="1"/>
          <p:nvPr/>
        </p:nvSpPr>
        <p:spPr>
          <a:xfrm>
            <a:off x="429768" y="94366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주석 박스 2"/>
          <p:cNvSpPr/>
          <p:nvPr/>
        </p:nvSpPr>
        <p:spPr>
          <a:xfrm>
            <a:off x="548640" y="1380744"/>
            <a:ext cx="4983480" cy="50566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9" name="주석 번호 2"/>
          <p:cNvSpPr/>
          <p:nvPr/>
        </p:nvSpPr>
        <p:spPr>
          <a:xfrm>
            <a:off x="429768" y="1261872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주석 번호 글자 2"/>
          <p:cNvSpPr txBox="1"/>
          <p:nvPr/>
        </p:nvSpPr>
        <p:spPr>
          <a:xfrm>
            <a:off x="429768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주석 박스 3"/>
          <p:cNvSpPr/>
          <p:nvPr/>
        </p:nvSpPr>
        <p:spPr>
          <a:xfrm>
            <a:off x="4657954" y="1062533"/>
            <a:ext cx="874166" cy="303581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2" name="주석 번호 3"/>
          <p:cNvSpPr/>
          <p:nvPr/>
        </p:nvSpPr>
        <p:spPr>
          <a:xfrm>
            <a:off x="5394960" y="943661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주석 번호 글자 3"/>
          <p:cNvSpPr txBox="1"/>
          <p:nvPr/>
        </p:nvSpPr>
        <p:spPr>
          <a:xfrm>
            <a:off x="5394960" y="94366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주석 박스 4"/>
          <p:cNvSpPr/>
          <p:nvPr/>
        </p:nvSpPr>
        <p:spPr>
          <a:xfrm>
            <a:off x="548640" y="3962095"/>
            <a:ext cx="4983480" cy="50566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5" name="주석 번호 4"/>
          <p:cNvSpPr/>
          <p:nvPr/>
        </p:nvSpPr>
        <p:spPr>
          <a:xfrm>
            <a:off x="429768" y="3843223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주석 번호 글자 4"/>
          <p:cNvSpPr txBox="1"/>
          <p:nvPr/>
        </p:nvSpPr>
        <p:spPr>
          <a:xfrm>
            <a:off x="429768" y="38432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주석 박스 5"/>
          <p:cNvSpPr/>
          <p:nvPr/>
        </p:nvSpPr>
        <p:spPr>
          <a:xfrm>
            <a:off x="6051499" y="3395167"/>
            <a:ext cx="5502859" cy="413309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8" name="주석 번호 5"/>
          <p:cNvSpPr/>
          <p:nvPr/>
        </p:nvSpPr>
        <p:spPr>
          <a:xfrm>
            <a:off x="5932627" y="3276295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주석 번호 글자 5"/>
          <p:cNvSpPr txBox="1"/>
          <p:nvPr/>
        </p:nvSpPr>
        <p:spPr>
          <a:xfrm>
            <a:off x="5932627" y="32762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주석 박스 6"/>
          <p:cNvSpPr/>
          <p:nvPr/>
        </p:nvSpPr>
        <p:spPr>
          <a:xfrm>
            <a:off x="6051499" y="4068166"/>
            <a:ext cx="5502859" cy="389534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21" name="주석 번호 6"/>
          <p:cNvSpPr/>
          <p:nvPr/>
        </p:nvSpPr>
        <p:spPr>
          <a:xfrm>
            <a:off x="5932627" y="3949294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주석 번호 글자 6"/>
          <p:cNvSpPr txBox="1"/>
          <p:nvPr/>
        </p:nvSpPr>
        <p:spPr>
          <a:xfrm>
            <a:off x="5932627" y="394929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3" name="주석 박스 7"/>
          <p:cNvSpPr/>
          <p:nvPr/>
        </p:nvSpPr>
        <p:spPr>
          <a:xfrm>
            <a:off x="5907024" y="1005840"/>
            <a:ext cx="5791810" cy="2042770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24" name="주석 번호 7"/>
          <p:cNvSpPr/>
          <p:nvPr/>
        </p:nvSpPr>
        <p:spPr>
          <a:xfrm>
            <a:off x="11561674" y="886968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주석 번호 글자 7"/>
          <p:cNvSpPr txBox="1"/>
          <p:nvPr/>
        </p:nvSpPr>
        <p:spPr>
          <a:xfrm>
            <a:off x="11561674" y="886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26" name="설명 번호 1"/>
          <p:cNvSpPr/>
          <p:nvPr/>
        </p:nvSpPr>
        <p:spPr>
          <a:xfrm>
            <a:off x="411480" y="471830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11480" y="4718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28" name="설명 1"/>
          <p:cNvSpPr txBox="1"/>
          <p:nvPr/>
        </p:nvSpPr>
        <p:spPr>
          <a:xfrm>
            <a:off x="758952" y="4709160"/>
            <a:ext cx="2297887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대상그룹(A) · 선택 대상(B)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GR-10 법정·계획상 위험·취약지역 / 급경사지 등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Agent가 돌려준 객체 ID를 유형별 탭으로</a:t>
            </a:r>
            <a:endParaRPr lang="en-US" sz="1200" dirty="0"/>
          </a:p>
        </p:txBody>
      </p:sp>
      <p:sp>
        <p:nvSpPr>
          <p:cNvPr id="29" name="설명 번호 2"/>
          <p:cNvSpPr/>
          <p:nvPr/>
        </p:nvSpPr>
        <p:spPr>
          <a:xfrm>
            <a:off x="3303727" y="471830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303727" y="4718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31" name="설명 2"/>
          <p:cNvSpPr txBox="1"/>
          <p:nvPr/>
        </p:nvSpPr>
        <p:spPr>
          <a:xfrm>
            <a:off x="3651199" y="4709160"/>
            <a:ext cx="2297887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핵심 표시항목(C)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명칭·유형·행정구역·지정/평가정보·자료 기준일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목록 API 응답만으로 이 한 줄이 그려져야 함</a:t>
            </a:r>
            <a:endParaRPr lang="en-US" sz="1200" dirty="0"/>
          </a:p>
        </p:txBody>
      </p:sp>
      <p:sp>
        <p:nvSpPr>
          <p:cNvPr id="32" name="설명 번호 3"/>
          <p:cNvSpPr/>
          <p:nvPr/>
        </p:nvSpPr>
        <p:spPr>
          <a:xfrm>
            <a:off x="6195974" y="471830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195974" y="4718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34" name="설명 3"/>
          <p:cNvSpPr txBox="1"/>
          <p:nvPr/>
        </p:nvSpPr>
        <p:spPr>
          <a:xfrm>
            <a:off x="6543446" y="4709160"/>
            <a:ext cx="22978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지도 연결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GR-20 공간객체·지도 연결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공간객체 ID가 오면 지도에서 보기</a:t>
            </a:r>
            <a:endParaRPr lang="en-US" sz="1200" dirty="0"/>
          </a:p>
        </p:txBody>
      </p:sp>
      <p:sp>
        <p:nvSpPr>
          <p:cNvPr id="35" name="설명 번호 4"/>
          <p:cNvSpPr/>
          <p:nvPr/>
        </p:nvSpPr>
        <p:spPr>
          <a:xfrm>
            <a:off x="9088222" y="471830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088222" y="4718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37" name="설명 4"/>
          <p:cNvSpPr txBox="1"/>
          <p:nvPr/>
        </p:nvSpPr>
        <p:spPr>
          <a:xfrm>
            <a:off x="9435694" y="4709160"/>
            <a:ext cx="22978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근거 칩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GR-06 근거문서·Passage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답변·목록 어디서든 같은 근거 뷰어</a:t>
            </a:r>
            <a:endParaRPr lang="en-US" sz="1200" dirty="0"/>
          </a:p>
        </p:txBody>
      </p:sp>
      <p:sp>
        <p:nvSpPr>
          <p:cNvPr id="38" name="설명 번호 5"/>
          <p:cNvSpPr/>
          <p:nvPr/>
        </p:nvSpPr>
        <p:spPr>
          <a:xfrm>
            <a:off x="411480" y="576072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411480" y="5760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40" name="설명 5"/>
          <p:cNvSpPr txBox="1"/>
          <p:nvPr/>
        </p:nvSpPr>
        <p:spPr>
          <a:xfrm>
            <a:off x="758952" y="5751576"/>
            <a:ext cx="2297887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진입 경로 → 상세조회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'Agent가 해당 유형의 객체 ID를 반환'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조회·연결 식별자: 대상유형 + 객체 ID / 원천 관리번호</a:t>
            </a:r>
            <a:endParaRPr lang="en-US" sz="1200" dirty="0"/>
          </a:p>
        </p:txBody>
      </p:sp>
      <p:sp>
        <p:nvSpPr>
          <p:cNvPr id="41" name="설명 번호 6"/>
          <p:cNvSpPr/>
          <p:nvPr/>
        </p:nvSpPr>
        <p:spPr>
          <a:xfrm>
            <a:off x="3303727" y="576072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3303727" y="5760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43" name="설명 6"/>
          <p:cNvSpPr txBox="1"/>
          <p:nvPr/>
        </p:nvSpPr>
        <p:spPr>
          <a:xfrm>
            <a:off x="3651199" y="5751576"/>
            <a:ext cx="22978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핵심 표시항목 상세(D)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03 연결 ID DQ-10-001 ~ 029 (다음 장)</a:t>
            </a:r>
            <a:endParaRPr lang="en-US" sz="1200" dirty="0"/>
          </a:p>
        </p:txBody>
      </p:sp>
      <p:sp>
        <p:nvSpPr>
          <p:cNvPr id="44" name="설명 번호 7"/>
          <p:cNvSpPr/>
          <p:nvPr/>
        </p:nvSpPr>
        <p:spPr>
          <a:xfrm>
            <a:off x="6195974" y="576072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195974" y="5760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7</a:t>
            </a:r>
            <a:endParaRPr lang="en-US" sz="1050" dirty="0"/>
          </a:p>
        </p:txBody>
      </p:sp>
      <p:sp>
        <p:nvSpPr>
          <p:cNvPr id="46" name="설명 7"/>
          <p:cNvSpPr txBox="1"/>
          <p:nvPr/>
        </p:nvSpPr>
        <p:spPr>
          <a:xfrm>
            <a:off x="6543446" y="5751576"/>
            <a:ext cx="2297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상세 ↔ 지도 동기화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GR-20 DQ-20-001~004 · spatial_object_id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좌표가 아니라 공간객체 ID로 연결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⑥ 위험·취약지역 상세 — 탭마다 03 시트의 정보 제공 묶음(DQ-10)</a:t>
            </a:r>
            <a:endParaRPr lang="en-US" sz="2600" dirty="0"/>
          </a:p>
        </p:txBody>
      </p:sp>
      <p:pic>
        <p:nvPicPr>
          <p:cNvPr id="3" name="화면 B_detail_risk" descr="시범서비스 화면 캡처 (B_detail_ris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6629400" cy="4402836"/>
          </a:xfrm>
          <a:prstGeom prst="rect">
            <a:avLst/>
          </a:prstGeom>
        </p:spPr>
      </p:pic>
      <p:sp>
        <p:nvSpPr>
          <p:cNvPr id="4" name="화면 테두리"/>
          <p:cNvSpPr/>
          <p:nvPr/>
        </p:nvSpPr>
        <p:spPr>
          <a:xfrm>
            <a:off x="411480" y="1005840"/>
            <a:ext cx="6629400" cy="4402836"/>
          </a:xfrm>
          <a:prstGeom prst="rect">
            <a:avLst/>
          </a:prstGeom>
          <a:ln w="9525">
            <a:solidFill>
              <a:srgbClr val="D6DCE3"/>
            </a:solidFill>
            <a:prstDash val="solid"/>
          </a:ln>
        </p:spPr>
      </p:sp>
      <p:sp>
        <p:nvSpPr>
          <p:cNvPr id="5" name="주석 박스 1"/>
          <p:cNvSpPr/>
          <p:nvPr/>
        </p:nvSpPr>
        <p:spPr>
          <a:xfrm>
            <a:off x="583387" y="1095451"/>
            <a:ext cx="6236208" cy="46817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6" name="주석 번호 1"/>
          <p:cNvSpPr/>
          <p:nvPr/>
        </p:nvSpPr>
        <p:spPr>
          <a:xfrm>
            <a:off x="464515" y="976579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주석 번호 글자 1"/>
          <p:cNvSpPr txBox="1"/>
          <p:nvPr/>
        </p:nvSpPr>
        <p:spPr>
          <a:xfrm>
            <a:off x="464515" y="97657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주석 박스 2"/>
          <p:cNvSpPr/>
          <p:nvPr/>
        </p:nvSpPr>
        <p:spPr>
          <a:xfrm>
            <a:off x="583387" y="1563624"/>
            <a:ext cx="1555394" cy="261518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9" name="주석 번호 2"/>
          <p:cNvSpPr/>
          <p:nvPr/>
        </p:nvSpPr>
        <p:spPr>
          <a:xfrm>
            <a:off x="464515" y="1687982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주석 번호 글자 2"/>
          <p:cNvSpPr txBox="1"/>
          <p:nvPr/>
        </p:nvSpPr>
        <p:spPr>
          <a:xfrm>
            <a:off x="464515" y="168798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주석 박스 3"/>
          <p:cNvSpPr/>
          <p:nvPr/>
        </p:nvSpPr>
        <p:spPr>
          <a:xfrm>
            <a:off x="2244852" y="1586484"/>
            <a:ext cx="785470" cy="213055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2" name="주석 번호 3"/>
          <p:cNvSpPr/>
          <p:nvPr/>
        </p:nvSpPr>
        <p:spPr>
          <a:xfrm>
            <a:off x="2893162" y="1467612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주석 번호 글자 3"/>
          <p:cNvSpPr txBox="1"/>
          <p:nvPr/>
        </p:nvSpPr>
        <p:spPr>
          <a:xfrm>
            <a:off x="2893162" y="14676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주석 박스 4"/>
          <p:cNvSpPr/>
          <p:nvPr/>
        </p:nvSpPr>
        <p:spPr>
          <a:xfrm>
            <a:off x="1389888" y="1890065"/>
            <a:ext cx="745236" cy="37673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5" name="주석 번호 4"/>
          <p:cNvSpPr/>
          <p:nvPr/>
        </p:nvSpPr>
        <p:spPr>
          <a:xfrm>
            <a:off x="1271016" y="1771193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주석 번호 글자 4"/>
          <p:cNvSpPr txBox="1"/>
          <p:nvPr/>
        </p:nvSpPr>
        <p:spPr>
          <a:xfrm>
            <a:off x="1271016" y="17711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주석 박스 5"/>
          <p:cNvSpPr/>
          <p:nvPr/>
        </p:nvSpPr>
        <p:spPr>
          <a:xfrm>
            <a:off x="583387" y="2374697"/>
            <a:ext cx="6236208" cy="1538935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8" name="주석 번호 5"/>
          <p:cNvSpPr/>
          <p:nvPr/>
        </p:nvSpPr>
        <p:spPr>
          <a:xfrm>
            <a:off x="464515" y="3776472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주석 번호 글자 5"/>
          <p:cNvSpPr txBox="1"/>
          <p:nvPr/>
        </p:nvSpPr>
        <p:spPr>
          <a:xfrm>
            <a:off x="464515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주석 박스 6"/>
          <p:cNvSpPr/>
          <p:nvPr/>
        </p:nvSpPr>
        <p:spPr>
          <a:xfrm>
            <a:off x="2156155" y="1890065"/>
            <a:ext cx="745236" cy="37673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21" name="주석 번호 6"/>
          <p:cNvSpPr/>
          <p:nvPr/>
        </p:nvSpPr>
        <p:spPr>
          <a:xfrm>
            <a:off x="2764231" y="1771193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주석 번호 글자 6"/>
          <p:cNvSpPr txBox="1"/>
          <p:nvPr/>
        </p:nvSpPr>
        <p:spPr>
          <a:xfrm>
            <a:off x="2764231" y="17711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3" name="주석 박스 7"/>
          <p:cNvSpPr/>
          <p:nvPr/>
        </p:nvSpPr>
        <p:spPr>
          <a:xfrm>
            <a:off x="2922422" y="1890065"/>
            <a:ext cx="745236" cy="37673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24" name="주석 번호 7"/>
          <p:cNvSpPr/>
          <p:nvPr/>
        </p:nvSpPr>
        <p:spPr>
          <a:xfrm>
            <a:off x="3530498" y="1771193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주석 번호 글자 7"/>
          <p:cNvSpPr txBox="1"/>
          <p:nvPr/>
        </p:nvSpPr>
        <p:spPr>
          <a:xfrm>
            <a:off x="3530498" y="17711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26" name="주석 박스 8"/>
          <p:cNvSpPr/>
          <p:nvPr/>
        </p:nvSpPr>
        <p:spPr>
          <a:xfrm>
            <a:off x="3688690" y="1890065"/>
            <a:ext cx="745236" cy="37673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27" name="주석 번호 8"/>
          <p:cNvSpPr/>
          <p:nvPr/>
        </p:nvSpPr>
        <p:spPr>
          <a:xfrm>
            <a:off x="4296766" y="1771193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주석 번호 글자 8"/>
          <p:cNvSpPr txBox="1"/>
          <p:nvPr/>
        </p:nvSpPr>
        <p:spPr>
          <a:xfrm>
            <a:off x="4296766" y="17711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29" name="주석 박스 9"/>
          <p:cNvSpPr/>
          <p:nvPr/>
        </p:nvSpPr>
        <p:spPr>
          <a:xfrm>
            <a:off x="4454957" y="1890065"/>
            <a:ext cx="2266798" cy="37673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30" name="주석 번호 9"/>
          <p:cNvSpPr/>
          <p:nvPr/>
        </p:nvSpPr>
        <p:spPr>
          <a:xfrm>
            <a:off x="6584594" y="1771193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주석 번호 글자 9"/>
          <p:cNvSpPr txBox="1"/>
          <p:nvPr/>
        </p:nvSpPr>
        <p:spPr>
          <a:xfrm>
            <a:off x="6584594" y="17711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32" name="주석 박스 10"/>
          <p:cNvSpPr/>
          <p:nvPr/>
        </p:nvSpPr>
        <p:spPr>
          <a:xfrm>
            <a:off x="624535" y="1890065"/>
            <a:ext cx="745236" cy="37673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33" name="주석 번호 10"/>
          <p:cNvSpPr/>
          <p:nvPr/>
        </p:nvSpPr>
        <p:spPr>
          <a:xfrm>
            <a:off x="505663" y="2129638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주석 번호 글자 10"/>
          <p:cNvSpPr txBox="1"/>
          <p:nvPr/>
        </p:nvSpPr>
        <p:spPr>
          <a:xfrm>
            <a:off x="505663" y="212963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35" name="설명 번호 1"/>
          <p:cNvSpPr/>
          <p:nvPr/>
        </p:nvSpPr>
        <p:spPr>
          <a:xfrm>
            <a:off x="7315200" y="101498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315200" y="1014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37" name="설명 1"/>
          <p:cNvSpPr txBox="1"/>
          <p:nvPr/>
        </p:nvSpPr>
        <p:spPr>
          <a:xfrm>
            <a:off x="7662672" y="1005840"/>
            <a:ext cx="4069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명칭 · 유형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DQ-10-001 기본정보 · 필수 응답</a:t>
            </a:r>
            <a:endParaRPr lang="en-US" sz="1200" dirty="0"/>
          </a:p>
        </p:txBody>
      </p:sp>
      <p:sp>
        <p:nvSpPr>
          <p:cNvPr id="38" name="설명 번호 2"/>
          <p:cNvSpPr/>
          <p:nvPr/>
        </p:nvSpPr>
        <p:spPr>
          <a:xfrm>
            <a:off x="7315200" y="1499616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7315200" y="1499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40" name="설명 2"/>
          <p:cNvSpPr txBox="1"/>
          <p:nvPr/>
        </p:nvSpPr>
        <p:spPr>
          <a:xfrm>
            <a:off x="7662672" y="1490472"/>
            <a:ext cx="4069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등급 · 위험수준 · 정비 상태 배지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DQ-10-001 위험등급 · DQ-10-009 재해위험도 등급·점수</a:t>
            </a:r>
            <a:endParaRPr lang="en-US" sz="1200" dirty="0"/>
          </a:p>
        </p:txBody>
      </p:sp>
      <p:sp>
        <p:nvSpPr>
          <p:cNvPr id="41" name="설명 번호 3"/>
          <p:cNvSpPr/>
          <p:nvPr/>
        </p:nvSpPr>
        <p:spPr>
          <a:xfrm>
            <a:off x="7315200" y="1984248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31520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43" name="설명 3"/>
          <p:cNvSpPr txBox="1"/>
          <p:nvPr/>
        </p:nvSpPr>
        <p:spPr>
          <a:xfrm>
            <a:off x="7662672" y="1975104"/>
            <a:ext cx="4069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ID — 조회·연결 식별자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대상유형 + 객체 ID + 원천 관리번호 · DQ-10-012 연계키</a:t>
            </a:r>
            <a:endParaRPr lang="en-US" sz="1200" dirty="0"/>
          </a:p>
        </p:txBody>
      </p:sp>
      <p:sp>
        <p:nvSpPr>
          <p:cNvPr id="44" name="설명 번호 4"/>
          <p:cNvSpPr/>
          <p:nvPr/>
        </p:nvSpPr>
        <p:spPr>
          <a:xfrm>
            <a:off x="7315200" y="246888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7315200" y="2468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46" name="설명 4"/>
          <p:cNvSpPr txBox="1"/>
          <p:nvPr/>
        </p:nvSpPr>
        <p:spPr>
          <a:xfrm>
            <a:off x="7662672" y="2459736"/>
            <a:ext cx="4069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위험·취약정보 탭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DQ-10-002 지정 · DQ-10-003 규모·핵심 위험조건</a:t>
            </a:r>
            <a:endParaRPr lang="en-US" sz="1200" dirty="0"/>
          </a:p>
        </p:txBody>
      </p:sp>
      <p:sp>
        <p:nvSpPr>
          <p:cNvPr id="47" name="설명 번호 5"/>
          <p:cNvSpPr/>
          <p:nvPr/>
        </p:nvSpPr>
        <p:spPr>
          <a:xfrm>
            <a:off x="7315200" y="2953512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7315200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49" name="설명 5"/>
          <p:cNvSpPr txBox="1"/>
          <p:nvPr/>
        </p:nvSpPr>
        <p:spPr>
          <a:xfrm>
            <a:off x="7662672" y="2944368"/>
            <a:ext cx="4069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탭 안의 항목 하나하나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'요청 상세정보 항목(D)'의 / 로 나뉜 값 하나 = 한 줄</a:t>
            </a:r>
            <a:endParaRPr lang="en-US" sz="1200" dirty="0"/>
          </a:p>
        </p:txBody>
      </p:sp>
      <p:sp>
        <p:nvSpPr>
          <p:cNvPr id="50" name="설명 번호 6"/>
          <p:cNvSpPr/>
          <p:nvPr/>
        </p:nvSpPr>
        <p:spPr>
          <a:xfrm>
            <a:off x="7315200" y="343814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731520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52" name="설명 6"/>
          <p:cNvSpPr txBox="1"/>
          <p:nvPr/>
        </p:nvSpPr>
        <p:spPr>
          <a:xfrm>
            <a:off x="7662672" y="3429000"/>
            <a:ext cx="4069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관리정보 탭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DQ-10-005 관리 · DQ-10-010 위치</a:t>
            </a:r>
            <a:endParaRPr lang="en-US" sz="1200" dirty="0"/>
          </a:p>
        </p:txBody>
      </p:sp>
      <p:sp>
        <p:nvSpPr>
          <p:cNvPr id="53" name="설명 번호 7"/>
          <p:cNvSpPr/>
          <p:nvPr/>
        </p:nvSpPr>
        <p:spPr>
          <a:xfrm>
            <a:off x="7315200" y="3922776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7315200" y="3922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7</a:t>
            </a:r>
            <a:endParaRPr lang="en-US" sz="1050" dirty="0"/>
          </a:p>
        </p:txBody>
      </p:sp>
      <p:sp>
        <p:nvSpPr>
          <p:cNvPr id="55" name="설명 7"/>
          <p:cNvSpPr txBox="1"/>
          <p:nvPr/>
        </p:nvSpPr>
        <p:spPr>
          <a:xfrm>
            <a:off x="7662672" y="3913632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정비계획 탭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DQ-10-004 정비 · DQ-10-011 정비사업 · DQ-10-016 준공</a:t>
            </a:r>
            <a:endParaRPr lang="en-US" sz="1200" dirty="0"/>
          </a:p>
        </p:txBody>
      </p:sp>
      <p:sp>
        <p:nvSpPr>
          <p:cNvPr id="56" name="설명 번호 8"/>
          <p:cNvSpPr/>
          <p:nvPr/>
        </p:nvSpPr>
        <p:spPr>
          <a:xfrm>
            <a:off x="7315200" y="458114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7315200" y="4581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8</a:t>
            </a:r>
            <a:endParaRPr lang="en-US" sz="1050" dirty="0"/>
          </a:p>
        </p:txBody>
      </p:sp>
      <p:sp>
        <p:nvSpPr>
          <p:cNvPr id="58" name="설명 8"/>
          <p:cNvSpPr txBox="1"/>
          <p:nvPr/>
        </p:nvSpPr>
        <p:spPr>
          <a:xfrm>
            <a:off x="7662672" y="4572000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피해 이력 탭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DQ-10-005 과거 사건 · DQ-10-013~015 지정·점검·조사 이력</a:t>
            </a:r>
            <a:endParaRPr lang="en-US" sz="1200" dirty="0"/>
          </a:p>
        </p:txBody>
      </p:sp>
      <p:sp>
        <p:nvSpPr>
          <p:cNvPr id="59" name="설명 번호 9"/>
          <p:cNvSpPr/>
          <p:nvPr/>
        </p:nvSpPr>
        <p:spPr>
          <a:xfrm>
            <a:off x="7315200" y="5239512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7315200" y="5239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9</a:t>
            </a:r>
            <a:endParaRPr lang="en-US" sz="1050" dirty="0"/>
          </a:p>
        </p:txBody>
      </p:sp>
      <p:sp>
        <p:nvSpPr>
          <p:cNvPr id="61" name="설명 9"/>
          <p:cNvSpPr txBox="1"/>
          <p:nvPr/>
        </p:nvSpPr>
        <p:spPr>
          <a:xfrm>
            <a:off x="7662672" y="5230368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공간·근거 · 연관 객체 · 근거 탭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GR-20 DQ-20-001~004 · GR-06 DQ-06-001~005</a:t>
            </a:r>
            <a:endParaRPr lang="en-US" sz="1200" dirty="0"/>
          </a:p>
        </p:txBody>
      </p:sp>
      <p:sp>
        <p:nvSpPr>
          <p:cNvPr id="62" name="설명 번호 10"/>
          <p:cNvSpPr/>
          <p:nvPr/>
        </p:nvSpPr>
        <p:spPr>
          <a:xfrm>
            <a:off x="7315200" y="589788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7315200" y="5897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10</a:t>
            </a:r>
            <a:endParaRPr lang="en-US" sz="1050" dirty="0"/>
          </a:p>
        </p:txBody>
      </p:sp>
      <p:sp>
        <p:nvSpPr>
          <p:cNvPr id="64" name="설명 10"/>
          <p:cNvSpPr txBox="1"/>
          <p:nvPr/>
        </p:nvSpPr>
        <p:spPr>
          <a:xfrm>
            <a:off x="7662672" y="5888736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요약 (어디·왜·언제·무엇)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Agent 조합 칸 — 원천값 아님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DQ-10-003 위험조건 + GR-18 매뉴얼 절차를 엮어 보여줌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⑦ 행동매뉴얼 대응절차(GR-18)와 근거문서(GR-06)</a:t>
            </a:r>
            <a:endParaRPr lang="en-US" sz="2600" dirty="0"/>
          </a:p>
        </p:txBody>
      </p:sp>
      <p:pic>
        <p:nvPicPr>
          <p:cNvPr id="3" name="화면 D_manual" descr="시범서비스 화면 캡처 (D_manua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11338560" cy="3538728"/>
          </a:xfrm>
          <a:prstGeom prst="rect">
            <a:avLst/>
          </a:prstGeom>
        </p:spPr>
      </p:pic>
      <p:sp>
        <p:nvSpPr>
          <p:cNvPr id="4" name="화면 테두리"/>
          <p:cNvSpPr/>
          <p:nvPr/>
        </p:nvSpPr>
        <p:spPr>
          <a:xfrm>
            <a:off x="411480" y="1005840"/>
            <a:ext cx="11338560" cy="3538728"/>
          </a:xfrm>
          <a:prstGeom prst="rect">
            <a:avLst/>
          </a:prstGeom>
          <a:ln w="9525">
            <a:solidFill>
              <a:srgbClr val="D6DCE3"/>
            </a:solidFill>
            <a:prstDash val="solid"/>
          </a:ln>
        </p:spPr>
      </p:sp>
      <p:sp>
        <p:nvSpPr>
          <p:cNvPr id="5" name="주석 박스 1"/>
          <p:cNvSpPr/>
          <p:nvPr/>
        </p:nvSpPr>
        <p:spPr>
          <a:xfrm>
            <a:off x="4469587" y="1085393"/>
            <a:ext cx="1199693" cy="231343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6" name="주석 번호 1"/>
          <p:cNvSpPr/>
          <p:nvPr/>
        </p:nvSpPr>
        <p:spPr>
          <a:xfrm>
            <a:off x="5532120" y="966521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주석 번호 글자 1"/>
          <p:cNvSpPr txBox="1"/>
          <p:nvPr/>
        </p:nvSpPr>
        <p:spPr>
          <a:xfrm>
            <a:off x="5532120" y="96652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주석 박스 2"/>
          <p:cNvSpPr/>
          <p:nvPr/>
        </p:nvSpPr>
        <p:spPr>
          <a:xfrm>
            <a:off x="548640" y="2457907"/>
            <a:ext cx="4983480" cy="918972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9" name="주석 번호 2"/>
          <p:cNvSpPr/>
          <p:nvPr/>
        </p:nvSpPr>
        <p:spPr>
          <a:xfrm>
            <a:off x="429768" y="2339035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주석 번호 글자 2"/>
          <p:cNvSpPr txBox="1"/>
          <p:nvPr/>
        </p:nvSpPr>
        <p:spPr>
          <a:xfrm>
            <a:off x="429768" y="23390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주석 박스 3"/>
          <p:cNvSpPr/>
          <p:nvPr/>
        </p:nvSpPr>
        <p:spPr>
          <a:xfrm>
            <a:off x="418795" y="3419856"/>
            <a:ext cx="5243170" cy="1068934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2" name="주석 번호 3"/>
          <p:cNvSpPr/>
          <p:nvPr/>
        </p:nvSpPr>
        <p:spPr>
          <a:xfrm>
            <a:off x="299923" y="4351630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주석 번호 글자 3"/>
          <p:cNvSpPr txBox="1"/>
          <p:nvPr/>
        </p:nvSpPr>
        <p:spPr>
          <a:xfrm>
            <a:off x="299923" y="43516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주석 박스 4"/>
          <p:cNvSpPr/>
          <p:nvPr/>
        </p:nvSpPr>
        <p:spPr>
          <a:xfrm>
            <a:off x="6045098" y="1207922"/>
            <a:ext cx="5489143" cy="866851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5" name="주석 번호 4"/>
          <p:cNvSpPr/>
          <p:nvPr/>
        </p:nvSpPr>
        <p:spPr>
          <a:xfrm>
            <a:off x="11397082" y="1089050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주석 번호 글자 4"/>
          <p:cNvSpPr txBox="1"/>
          <p:nvPr/>
        </p:nvSpPr>
        <p:spPr>
          <a:xfrm>
            <a:off x="11397082" y="108905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주석 박스 5"/>
          <p:cNvSpPr/>
          <p:nvPr/>
        </p:nvSpPr>
        <p:spPr>
          <a:xfrm>
            <a:off x="6045098" y="2341778"/>
            <a:ext cx="5489143" cy="1444752"/>
          </a:xfrm>
          <a:prstGeom prst="rect">
            <a:avLst/>
          </a:prstGeom>
          <a:ln w="25400">
            <a:solidFill>
              <a:srgbClr val="E5590B"/>
            </a:solidFill>
            <a:prstDash val="solid"/>
          </a:ln>
        </p:spPr>
      </p:sp>
      <p:sp>
        <p:nvSpPr>
          <p:cNvPr id="18" name="주석 번호 5"/>
          <p:cNvSpPr/>
          <p:nvPr/>
        </p:nvSpPr>
        <p:spPr>
          <a:xfrm>
            <a:off x="11397082" y="3649370"/>
            <a:ext cx="274320" cy="274320"/>
          </a:xfrm>
          <a:prstGeom prst="ellipse">
            <a:avLst/>
          </a:prstGeom>
          <a:solidFill>
            <a:srgbClr val="E559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주석 번호 글자 5"/>
          <p:cNvSpPr txBox="1"/>
          <p:nvPr/>
        </p:nvSpPr>
        <p:spPr>
          <a:xfrm>
            <a:off x="11397082" y="364937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설명 번호 1"/>
          <p:cNvSpPr/>
          <p:nvPr/>
        </p:nvSpPr>
        <p:spPr>
          <a:xfrm>
            <a:off x="411480" y="471830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11480" y="4718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22" name="설명 1"/>
          <p:cNvSpPr txBox="1"/>
          <p:nvPr/>
        </p:nvSpPr>
        <p:spPr>
          <a:xfrm>
            <a:off x="758952" y="4709160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질문에 참조로 건 특보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GR-02 → context.refAdvisory (응답 항목 아님)</a:t>
            </a:r>
            <a:endParaRPr lang="en-US" sz="1200" dirty="0"/>
          </a:p>
        </p:txBody>
      </p:sp>
      <p:sp>
        <p:nvSpPr>
          <p:cNvPr id="23" name="설명 번호 2"/>
          <p:cNvSpPr/>
          <p:nvPr/>
        </p:nvSpPr>
        <p:spPr>
          <a:xfrm>
            <a:off x="4267505" y="471830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267505" y="4718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25" name="설명 2"/>
          <p:cNvSpPr txBox="1"/>
          <p:nvPr/>
        </p:nvSpPr>
        <p:spPr>
          <a:xfrm>
            <a:off x="4614977" y="4709160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단계 판단 (비상2단계)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DQ-18-002 단계·비상근무 · DQ-18-004 발동조건·판단 근거</a:t>
            </a:r>
            <a:endParaRPr lang="en-US" sz="1200" dirty="0"/>
          </a:p>
        </p:txBody>
      </p:sp>
      <p:sp>
        <p:nvSpPr>
          <p:cNvPr id="26" name="설명 번호 3"/>
          <p:cNvSpPr/>
          <p:nvPr/>
        </p:nvSpPr>
        <p:spPr>
          <a:xfrm>
            <a:off x="8123530" y="471830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123530" y="4718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8" name="설명 3"/>
          <p:cNvSpPr txBox="1"/>
          <p:nvPr/>
        </p:nvSpPr>
        <p:spPr>
          <a:xfrm>
            <a:off x="8471002" y="4709160"/>
            <a:ext cx="3261665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지금 할 일 — 순서·담당·시기·쪽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DQ-18-003 업무 · DQ-18-005 담당·협업 · DQ-18-006 진행 관계 · DQ-17-004 매뉴얼명·쪽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64C53"/>
                </a:solidFill>
              </a:rPr>
              <a:t>0917 목록에 매뉴얼 프로세스 API가 없음 → 신규 필요</a:t>
            </a:r>
            <a:endParaRPr lang="en-US" sz="1200" dirty="0"/>
          </a:p>
        </p:txBody>
      </p:sp>
      <p:sp>
        <p:nvSpPr>
          <p:cNvPr id="29" name="설명 번호 4"/>
          <p:cNvSpPr/>
          <p:nvPr/>
        </p:nvSpPr>
        <p:spPr>
          <a:xfrm>
            <a:off x="411480" y="5934456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11480" y="5934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31" name="설명 4"/>
          <p:cNvSpPr txBox="1"/>
          <p:nvPr/>
        </p:nvSpPr>
        <p:spPr>
          <a:xfrm>
            <a:off x="758952" y="5925312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근거 문서 정보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GR-06 DQ-06-001 문서 · DQ-06-005 공개등급</a:t>
            </a:r>
            <a:endParaRPr lang="en-US" sz="1200" dirty="0"/>
          </a:p>
        </p:txBody>
      </p:sp>
      <p:sp>
        <p:nvSpPr>
          <p:cNvPr id="32" name="설명 번호 5"/>
          <p:cNvSpPr/>
          <p:nvPr/>
        </p:nvSpPr>
        <p:spPr>
          <a:xfrm>
            <a:off x="4267505" y="5934456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267505" y="5934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34" name="설명 5"/>
          <p:cNvSpPr txBox="1"/>
          <p:nvPr/>
        </p:nvSpPr>
        <p:spPr>
          <a:xfrm>
            <a:off x="4614977" y="5925312"/>
            <a:ext cx="32616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124"/>
                </a:solidFill>
              </a:rPr>
              <a:t>인용 위치와 원문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256EF4"/>
                </a:solidFill>
              </a:rPr>
              <a:t>DQ-06-002 인용 페이지·Passage · DQ-18-008 추출 근거·품질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API 요청서에 담는 법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1차 요청서(0917) T3Q-15 「위험·취약 대상 상세」를 03 시트 기준으로 고친 샘플 — 대상: GR-10 급경사지·붕괴위험지역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0917 T3Q-15와 03 시트의 차이 — 무엇을 고치나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402336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관점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0917 T3Q-15 (현재)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03 시트가 요구하는 것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고치는 방법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요구사항 추적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응답에 DQ 표시 없음 (근거 기능 ID만 표기)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정보 제공 그룹 ID(DQ-GG-NNN) 단위로 요청·회신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590B"/>
                          </a:solidFill>
                        </a:rPr>
                        <a:t>섹션마다 dq_id · group_id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항목 범위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공통 attributes 8개 (지정사유·위험도세부·예상피해·정비사업 …)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하위유형 전용 묶음: 급경사지 DQ-10-009~016 (점검·조사평가·준공 이력)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590B"/>
                          </a:solidFill>
                        </a:rPr>
                        <a:t>object_type별 섹션 추가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값 형태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"위험도지수 78점(A 32 · B 28 · C 18)" 문장 한 칸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등급·점수·가구·인구를 각각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590B"/>
                          </a:solidFill>
                        </a:rPr>
                        <a:t>값·단위 분리 (숫자는 숫자로)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응답 요청 기준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grade에만 status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필수 응답 / 원천값 요청 / 추가 협의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590B"/>
                          </a:solidFill>
                        </a:rPr>
                        <a:t>섹션 basis + 필드 provision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식별자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object_id = spatial_object_id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대상유형 + 객체 ID + 원천 관리번호 (+ 공간객체 ID)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590B"/>
                          </a:solidFill>
                        </a:rPr>
                        <a:t>target 블록 4개 키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관련 정보 연결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evidence_refs만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02 관련 정보 연결: GR-06 근거 · GR-09 침수 · GR-20 지도 · 사건 GR-04·05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590B"/>
                          </a:solidFill>
                        </a:rPr>
                        <a:t>links 블록 (그룹별 ID 목록)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원천 / 가공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data_nature 객체 단위 1개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GR-19 DQ-19-001: 제공상태·출처·자료 기준시점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590B"/>
                          </a:solidFill>
                        </a:rPr>
                        <a:t>필드 nature + as_of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안내 상자"/>
          <p:cNvSpPr/>
          <p:nvPr/>
        </p:nvSpPr>
        <p:spPr>
          <a:xfrm>
            <a:off x="411480" y="5440680"/>
            <a:ext cx="11338560" cy="685800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/>
        </p:spPr>
      </p:sp>
      <p:sp>
        <p:nvSpPr>
          <p:cNvPr id="5" name="안내 문구"/>
          <p:cNvSpPr txBox="1"/>
          <p:nvPr/>
        </p:nvSpPr>
        <p:spPr>
          <a:xfrm>
            <a:off x="576072" y="5440680"/>
            <a:ext cx="11009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124"/>
                </a:solidFill>
              </a:rPr>
              <a:t>그대로 유지할 0917의 좋은 점 — 공통 봉투(status · data_gaps · warnings · meta) · 좌표 대신 spatial_object_id · 현재 정비 상태를 모르면 UNKNOWN(LLM 추론 금지) · importance로 표출 순서 지정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개정 샘플 ① — 요청과 응답의 뼈대</a:t>
            </a:r>
            <a:endParaRPr lang="en-US" sz="2600" dirty="0"/>
          </a:p>
        </p:txBody>
      </p:sp>
      <p:sp>
        <p:nvSpPr>
          <p:cNvPr id="3" name="코드 상자"/>
          <p:cNvSpPr/>
          <p:nvPr/>
        </p:nvSpPr>
        <p:spPr>
          <a:xfrm>
            <a:off x="640080" y="1051560"/>
            <a:ext cx="7178040" cy="4959706"/>
          </a:xfrm>
          <a:prstGeom prst="roundRect">
            <a:avLst>
              <a:gd name="adj" fmla="val 922"/>
            </a:avLst>
          </a:prstGeom>
          <a:solidFill>
            <a:srgbClr val="F7F8FA"/>
          </a:solidFill>
          <a:ln w="9525">
            <a:solidFill>
              <a:srgbClr val="D6DCE3"/>
            </a:solidFill>
            <a:prstDash val="solid"/>
          </a:ln>
        </p:spPr>
      </p:sp>
      <p:sp>
        <p:nvSpPr>
          <p:cNvPr id="4" name="JSON 샘플"/>
          <p:cNvSpPr txBox="1"/>
          <p:nvPr/>
        </p:nvSpPr>
        <p:spPr>
          <a:xfrm>
            <a:off x="777240" y="1188720"/>
            <a:ext cx="6949440" cy="4685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/v1/risk-objects/CL-00015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?object_type=STEEP_SLOPE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&amp;sections=basic,risk,designation,maintenance,history,links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"schema_version": "1.1",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"request_id": "REQ-20261003-000215",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"PARTIAL_SUCCESS",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"result": {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"target": {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"group_id": "GR-10",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"object_type": "STEEP_SLOPE",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"object_id": "CL-00015",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"source_mgmt_no": "&lt;원천 관리번호&gt;",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"spatial_object_id": "SP-CL-00015"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"sections": [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"dq_id": "DQ-10-001", "label": "기본정보", "basis": "REQUIRED",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"fields": [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"key": "name", "label": "위험지역명",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"value": "영선2-1 붕괴위험지역(급경사지)",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"provision": "PROVIDED", "nature": "SOURCE"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"key": "risk_grade", "label": "위험등급", "value": "E", …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"key": "address", "value": "부산 영도구 영선동4가 186-28 일원",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"admin_code": "2620055000", … }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A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… (다음 장) …</a:t>
            </a:r>
            <a:endParaRPr lang="en-US" sz="1000" dirty="0"/>
          </a:p>
        </p:txBody>
      </p:sp>
      <p:sp>
        <p:nvSpPr>
          <p:cNvPr id="5" name="코드 번호 1"/>
          <p:cNvSpPr/>
          <p:nvPr/>
        </p:nvSpPr>
        <p:spPr>
          <a:xfrm>
            <a:off x="347472" y="1328623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7472" y="1328623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코드 번호 2"/>
          <p:cNvSpPr/>
          <p:nvPr/>
        </p:nvSpPr>
        <p:spPr>
          <a:xfrm>
            <a:off x="347472" y="2499970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" y="249997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코드 번호 3"/>
          <p:cNvSpPr/>
          <p:nvPr/>
        </p:nvSpPr>
        <p:spPr>
          <a:xfrm>
            <a:off x="347472" y="2834640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" y="28346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코드 번호 4"/>
          <p:cNvSpPr/>
          <p:nvPr/>
        </p:nvSpPr>
        <p:spPr>
          <a:xfrm>
            <a:off x="347472" y="4173322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" y="417332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3" name="코드 번호 5"/>
          <p:cNvSpPr/>
          <p:nvPr/>
        </p:nvSpPr>
        <p:spPr>
          <a:xfrm>
            <a:off x="347472" y="4842662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7472" y="484266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5" name="설명 번호 1"/>
          <p:cNvSpPr/>
          <p:nvPr/>
        </p:nvSpPr>
        <p:spPr>
          <a:xfrm>
            <a:off x="8183880" y="1069848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1069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17" name="설명 1"/>
          <p:cNvSpPr txBox="1"/>
          <p:nvPr/>
        </p:nvSpPr>
        <p:spPr>
          <a:xfrm>
            <a:off x="8531352" y="1051560"/>
            <a:ext cx="3264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요청할 탭만 고른다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sections = 화면 탭 = 03 '조회 내용 구분'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필요한 섹션만 받아 응답을 가볍게</a:t>
            </a:r>
            <a:endParaRPr lang="en-US" sz="1200" dirty="0"/>
          </a:p>
        </p:txBody>
      </p:sp>
      <p:sp>
        <p:nvSpPr>
          <p:cNvPr id="18" name="설명 번호 2"/>
          <p:cNvSpPr/>
          <p:nvPr/>
        </p:nvSpPr>
        <p:spPr>
          <a:xfrm>
            <a:off x="8183880" y="1773936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83880" y="1773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20" name="설명 2"/>
          <p:cNvSpPr txBox="1"/>
          <p:nvPr/>
        </p:nvSpPr>
        <p:spPr>
          <a:xfrm>
            <a:off x="8531352" y="1755648"/>
            <a:ext cx="3264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일부만 있으면 PARTIAL_SUCCESS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공통규약 status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없는 묶음은 data_gaps에 dq_id로 남김</a:t>
            </a:r>
            <a:endParaRPr lang="en-US" sz="1200" dirty="0"/>
          </a:p>
        </p:txBody>
      </p:sp>
      <p:sp>
        <p:nvSpPr>
          <p:cNvPr id="21" name="설명 번호 3"/>
          <p:cNvSpPr/>
          <p:nvPr/>
        </p:nvSpPr>
        <p:spPr>
          <a:xfrm>
            <a:off x="8183880" y="247802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83880" y="2478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3" name="설명 3"/>
          <p:cNvSpPr txBox="1"/>
          <p:nvPr/>
        </p:nvSpPr>
        <p:spPr>
          <a:xfrm>
            <a:off x="8531352" y="2459736"/>
            <a:ext cx="3264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그룹 + 식별자를 한 블록에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02 그룹 ID · 03 '조회·연결 식별자'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대상유형 + 객체 ID + 원천 관리번호 + 공간객체 ID</a:t>
            </a:r>
            <a:endParaRPr lang="en-US" sz="1200" dirty="0"/>
          </a:p>
        </p:txBody>
      </p:sp>
      <p:sp>
        <p:nvSpPr>
          <p:cNvPr id="24" name="설명 번호 4"/>
          <p:cNvSpPr/>
          <p:nvPr/>
        </p:nvSpPr>
        <p:spPr>
          <a:xfrm>
            <a:off x="8183880" y="3182112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83880" y="3182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26" name="설명 4"/>
          <p:cNvSpPr txBox="1"/>
          <p:nvPr/>
        </p:nvSpPr>
        <p:spPr>
          <a:xfrm>
            <a:off x="8531352" y="3163824"/>
            <a:ext cx="32644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섹션 = 03 시트 한 행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dq_id · label · basis(응답 요청 기준)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REQUIRED = 필수 응답 / SOURCE = 원천값 요청 / TBD = 추가 협의</a:t>
            </a:r>
            <a:endParaRPr lang="en-US" sz="1200" dirty="0"/>
          </a:p>
        </p:txBody>
      </p:sp>
      <p:sp>
        <p:nvSpPr>
          <p:cNvPr id="27" name="설명 번호 5"/>
          <p:cNvSpPr/>
          <p:nvPr/>
        </p:nvSpPr>
        <p:spPr>
          <a:xfrm>
            <a:off x="8183880" y="406908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8388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29" name="설명 5"/>
          <p:cNvSpPr txBox="1"/>
          <p:nvPr/>
        </p:nvSpPr>
        <p:spPr>
          <a:xfrm>
            <a:off x="8531352" y="4050792"/>
            <a:ext cx="3264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필드마다 제공 상태·원천 여부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provision · nature (GR-19 DQ-19-001)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빈칸이면 '미수집'인지 '해당 없음'인지 구분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614476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590B"/>
                </a:solidFill>
              </a:rPr>
              <a:t>주황 굵은 줄</a:t>
            </a:r>
            <a:pPr indent="0" marL="0">
              <a:buNone/>
            </a:pPr>
            <a:r>
              <a:rPr lang="en-US" sz="1000" dirty="0">
                <a:solidFill>
                  <a:srgbClr val="6D7882"/>
                </a:solidFill>
              </a:rPr>
              <a:t> = 0917 대비 추가·변경 · 값은 시범서비스 시드 기준 예시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개정 샘플 ② — 하위유형 항목 · 없는 값 · 연결 ID</a:t>
            </a:r>
            <a:endParaRPr lang="en-US" sz="2600" dirty="0"/>
          </a:p>
        </p:txBody>
      </p:sp>
      <p:sp>
        <p:nvSpPr>
          <p:cNvPr id="3" name="코드 상자"/>
          <p:cNvSpPr/>
          <p:nvPr/>
        </p:nvSpPr>
        <p:spPr>
          <a:xfrm>
            <a:off x="640080" y="1051560"/>
            <a:ext cx="7178040" cy="5127041"/>
          </a:xfrm>
          <a:prstGeom prst="roundRect">
            <a:avLst>
              <a:gd name="adj" fmla="val 892"/>
            </a:avLst>
          </a:prstGeom>
          <a:solidFill>
            <a:srgbClr val="F7F8FA"/>
          </a:solidFill>
          <a:ln w="9525">
            <a:solidFill>
              <a:srgbClr val="D6DCE3"/>
            </a:solidFill>
            <a:prstDash val="solid"/>
          </a:ln>
        </p:spPr>
      </p:sp>
      <p:sp>
        <p:nvSpPr>
          <p:cNvPr id="4" name="JSON 샘플"/>
          <p:cNvSpPr txBox="1"/>
          <p:nvPr/>
        </p:nvSpPr>
        <p:spPr>
          <a:xfrm>
            <a:off x="777240" y="1188720"/>
            <a:ext cx="6949440" cy="4852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"dq_id": "DQ-10-009", "label": "시설·위험정보", "basis": "SOURCE",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"fields": [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"key": "risk_score", "value": 83, "unit": "점"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"key": "households", "value": 80, "unit": "가구"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"key": "population", "value": 144, "unit": "명"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"key": "last_inspection", "value": null,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"provision": "NOT_COLLECTED", "reason": "SOURCE_NOT_COLLECTED" }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"dq_id": "DQ-10-011", "label": "정비사업", "basis": "SOURCE",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"fields": [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"key": "reinforcement", "value": "사면정비(앵커+돌붙임)"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"key": "plan_status", "value": "진행", "as_of": "2026-02-28"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"key": "total_cost", "value": 12552, "unit": "백만원" }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"current_status": { "status": "UNKNOWN", "as_of": null }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"dq_id": "DQ-10-013", "label": "지정이력",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"items": [ { "designated_on": "2020-02-26", "area_m2": 7786 } ]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"dq_id": "DQ-10-014", "label": "점검이력", "items": [],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"provision": "NOT_COLLECTED" }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"links": {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"GR-06": ["DOC-SLOPE-MTP-2630#row33"],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"GR-04": ["1005-20220903-01"],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"GR-09": []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E55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"data_gaps": [ { "dq_id": "DQ-10-014", "reason": "SOURCE_NOT_COLLECTED" } ],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"meta": { "source": "T3Q", "quality_status": "VERIFIED", … }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코드 번호 1"/>
          <p:cNvSpPr/>
          <p:nvPr/>
        </p:nvSpPr>
        <p:spPr>
          <a:xfrm>
            <a:off x="347472" y="1161288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7472" y="11612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코드 번호 2"/>
          <p:cNvSpPr/>
          <p:nvPr/>
        </p:nvSpPr>
        <p:spPr>
          <a:xfrm>
            <a:off x="347472" y="1495958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" y="149595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코드 번호 3"/>
          <p:cNvSpPr/>
          <p:nvPr/>
        </p:nvSpPr>
        <p:spPr>
          <a:xfrm>
            <a:off x="347472" y="1997964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" y="19979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코드 번호 4"/>
          <p:cNvSpPr/>
          <p:nvPr/>
        </p:nvSpPr>
        <p:spPr>
          <a:xfrm>
            <a:off x="347472" y="3001975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" y="3001975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3" name="코드 번호 5"/>
          <p:cNvSpPr/>
          <p:nvPr/>
        </p:nvSpPr>
        <p:spPr>
          <a:xfrm>
            <a:off x="347472" y="3671316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7472" y="36713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5" name="코드 번호 6"/>
          <p:cNvSpPr/>
          <p:nvPr/>
        </p:nvSpPr>
        <p:spPr>
          <a:xfrm>
            <a:off x="347472" y="4507992"/>
            <a:ext cx="246888" cy="246888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7472" y="45079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7" name="설명 번호 1"/>
          <p:cNvSpPr/>
          <p:nvPr/>
        </p:nvSpPr>
        <p:spPr>
          <a:xfrm>
            <a:off x="8183880" y="1069848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1069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19" name="설명 1"/>
          <p:cNvSpPr txBox="1"/>
          <p:nvPr/>
        </p:nvSpPr>
        <p:spPr>
          <a:xfrm>
            <a:off x="8531352" y="1051560"/>
            <a:ext cx="3264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급경사지 전용 묶음을 별도 섹션으로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DQ-10-009 · 0917에 없던 항목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공통 attributes에 섞지 않는다</a:t>
            </a:r>
            <a:endParaRPr lang="en-US" sz="1200" dirty="0"/>
          </a:p>
        </p:txBody>
      </p:sp>
      <p:sp>
        <p:nvSpPr>
          <p:cNvPr id="20" name="설명 번호 2"/>
          <p:cNvSpPr/>
          <p:nvPr/>
        </p:nvSpPr>
        <p:spPr>
          <a:xfrm>
            <a:off x="8183880" y="1773936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83880" y="1773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22" name="설명 2"/>
          <p:cNvSpPr txBox="1"/>
          <p:nvPr/>
        </p:nvSpPr>
        <p:spPr>
          <a:xfrm>
            <a:off x="8531352" y="1755648"/>
            <a:ext cx="3264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값은 쪼갠다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숫자 + 단위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"83점, 80가구·144명" 문장 대신 각각</a:t>
            </a:r>
            <a:endParaRPr lang="en-US" sz="1200" dirty="0"/>
          </a:p>
        </p:txBody>
      </p:sp>
      <p:sp>
        <p:nvSpPr>
          <p:cNvPr id="23" name="설명 번호 3"/>
          <p:cNvSpPr/>
          <p:nvPr/>
        </p:nvSpPr>
        <p:spPr>
          <a:xfrm>
            <a:off x="8183880" y="2478024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83880" y="2478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5" name="설명 3"/>
          <p:cNvSpPr txBox="1"/>
          <p:nvPr/>
        </p:nvSpPr>
        <p:spPr>
          <a:xfrm>
            <a:off x="8531352" y="2459736"/>
            <a:ext cx="3264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없는 값은 '없다'고 응답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provision = NOT_COLLECTED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빈 문자열·추정값 금지 → 화면은 '미제공' 표시</a:t>
            </a:r>
            <a:endParaRPr lang="en-US" sz="1200" dirty="0"/>
          </a:p>
        </p:txBody>
      </p:sp>
      <p:sp>
        <p:nvSpPr>
          <p:cNvPr id="26" name="설명 번호 4"/>
          <p:cNvSpPr/>
          <p:nvPr/>
        </p:nvSpPr>
        <p:spPr>
          <a:xfrm>
            <a:off x="8183880" y="3182112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183880" y="3182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28" name="설명 4"/>
          <p:cNvSpPr txBox="1"/>
          <p:nvPr/>
        </p:nvSpPr>
        <p:spPr>
          <a:xfrm>
            <a:off x="8531352" y="3163824"/>
            <a:ext cx="32644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계획자료 상태 ≠ 현재 상태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as_of + current_status UNKNOWN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v1.71: 현행화 확인 불가 정비 현황은 현재 상태로 표시 금지</a:t>
            </a:r>
            <a:endParaRPr lang="en-US" sz="1200" dirty="0"/>
          </a:p>
        </p:txBody>
      </p:sp>
      <p:sp>
        <p:nvSpPr>
          <p:cNvPr id="29" name="설명 번호 5"/>
          <p:cNvSpPr/>
          <p:nvPr/>
        </p:nvSpPr>
        <p:spPr>
          <a:xfrm>
            <a:off x="8183880" y="4069080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8388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31" name="설명 5"/>
          <p:cNvSpPr txBox="1"/>
          <p:nvPr/>
        </p:nvSpPr>
        <p:spPr>
          <a:xfrm>
            <a:off x="8531352" y="4050792"/>
            <a:ext cx="3264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이력은 배열로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DQ-10-013 지정 · DQ-10-014 점검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항목이 없으면 빈 배열 + provision</a:t>
            </a:r>
            <a:endParaRPr lang="en-US" sz="1200" dirty="0"/>
          </a:p>
        </p:txBody>
      </p:sp>
      <p:sp>
        <p:nvSpPr>
          <p:cNvPr id="32" name="설명 번호 6"/>
          <p:cNvSpPr/>
          <p:nvPr/>
        </p:nvSpPr>
        <p:spPr>
          <a:xfrm>
            <a:off x="8183880" y="4773168"/>
            <a:ext cx="256032" cy="256032"/>
          </a:xfrm>
          <a:prstGeom prst="ellipse">
            <a:avLst/>
          </a:prstGeom>
          <a:solidFill>
            <a:srgbClr val="E5590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183880" y="4773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34" name="설명 6"/>
          <p:cNvSpPr txBox="1"/>
          <p:nvPr/>
        </p:nvSpPr>
        <p:spPr>
          <a:xfrm>
            <a:off x="8531352" y="4754880"/>
            <a:ext cx="3264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124"/>
                </a:solidFill>
              </a:rPr>
              <a:t>관련 정보는 그룹별 ID로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256EF4"/>
                </a:solidFill>
              </a:rPr>
              <a:t>02 '관련 정보 연결' → links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464C53"/>
                </a:solidFill>
              </a:rPr>
              <a:t>GR-06 근거 · GR-04 사건 · GR-09 침수기록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14476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590B"/>
                </a:solidFill>
              </a:rPr>
              <a:t>주황 굵은 줄</a:t>
            </a:r>
            <a:pPr indent="0" marL="0">
              <a:buNone/>
            </a:pPr>
            <a:r>
              <a:rPr lang="en-US" sz="1000" dirty="0">
                <a:solidFill>
                  <a:srgbClr val="6D7882"/>
                </a:solidFill>
              </a:rPr>
              <a:t> = 0917 대비 추가·변경 · 값은 시범서비스 시드 기준 예시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API 요청서 작성 규칙 6가지</a:t>
            </a:r>
            <a:endParaRPr lang="en-US" sz="2600" dirty="0"/>
          </a:p>
        </p:txBody>
      </p:sp>
      <p:sp>
        <p:nvSpPr>
          <p:cNvPr id="3" name="규칙 1"/>
          <p:cNvSpPr/>
          <p:nvPr/>
        </p:nvSpPr>
        <p:spPr>
          <a:xfrm>
            <a:off x="411480" y="11430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3F5F8"/>
          </a:solidFill>
          <a:ln/>
        </p:spPr>
      </p:sp>
      <p:sp>
        <p:nvSpPr>
          <p:cNvPr id="4" name="규칙 번호 1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063A7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E2124"/>
                </a:solidFill>
              </a:rPr>
              <a:t>03 한 행 = 응답 한 섹션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64C53"/>
                </a:solidFill>
              </a:rPr>
              <a:t>섹션마다 dq_id(DQ-GG-NNN)와 group_id(GR-GG). 요구사항이 바뀌면 그 섹션만 고친다.</a:t>
            </a:r>
            <a:endParaRPr lang="en-US" sz="1700" dirty="0"/>
          </a:p>
        </p:txBody>
      </p:sp>
      <p:sp>
        <p:nvSpPr>
          <p:cNvPr id="7" name="규칙 2"/>
          <p:cNvSpPr/>
          <p:nvPr/>
        </p:nvSpPr>
        <p:spPr>
          <a:xfrm>
            <a:off x="4279392" y="11430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3F5F8"/>
          </a:solidFill>
          <a:ln/>
        </p:spPr>
      </p:sp>
      <p:sp>
        <p:nvSpPr>
          <p:cNvPr id="8" name="규칙 번호 2"/>
          <p:cNvSpPr/>
          <p:nvPr/>
        </p:nvSpPr>
        <p:spPr>
          <a:xfrm>
            <a:off x="4507992" y="1371600"/>
            <a:ext cx="502920" cy="502920"/>
          </a:xfrm>
          <a:prstGeom prst="ellipse">
            <a:avLst/>
          </a:prstGeom>
          <a:solidFill>
            <a:srgbClr val="063A7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07992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07992" y="20116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E2124"/>
                </a:solidFill>
              </a:rPr>
              <a:t>응답 요청 기준을 값으로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64C53"/>
                </a:solidFill>
              </a:rPr>
              <a:t>basis(필수/원천값/추가 협의) + 필드 provision. '없음'을 빈칸으로 두지 않는다.</a:t>
            </a:r>
            <a:endParaRPr lang="en-US" sz="1700" dirty="0"/>
          </a:p>
        </p:txBody>
      </p:sp>
      <p:sp>
        <p:nvSpPr>
          <p:cNvPr id="11" name="규칙 3"/>
          <p:cNvSpPr/>
          <p:nvPr/>
        </p:nvSpPr>
        <p:spPr>
          <a:xfrm>
            <a:off x="8147304" y="11430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3F5F8"/>
          </a:solidFill>
          <a:ln/>
        </p:spPr>
      </p:sp>
      <p:sp>
        <p:nvSpPr>
          <p:cNvPr id="12" name="규칙 번호 3"/>
          <p:cNvSpPr/>
          <p:nvPr/>
        </p:nvSpPr>
        <p:spPr>
          <a:xfrm>
            <a:off x="8375904" y="1371600"/>
            <a:ext cx="502920" cy="502920"/>
          </a:xfrm>
          <a:prstGeom prst="ellipse">
            <a:avLst/>
          </a:prstGeom>
          <a:solidFill>
            <a:srgbClr val="063A7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75904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20116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E2124"/>
                </a:solidFill>
              </a:rPr>
              <a:t>값은 쪼개서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64C53"/>
                </a:solidFill>
              </a:rPr>
              <a:t>'/'로 나뉜 항목 하나 = 필드 하나. 숫자·단위·날짜를 분리해 정렬·비교가 되게.</a:t>
            </a:r>
            <a:endParaRPr lang="en-US" sz="1700" dirty="0"/>
          </a:p>
        </p:txBody>
      </p:sp>
      <p:sp>
        <p:nvSpPr>
          <p:cNvPr id="15" name="규칙 4"/>
          <p:cNvSpPr/>
          <p:nvPr/>
        </p:nvSpPr>
        <p:spPr>
          <a:xfrm>
            <a:off x="411480" y="35661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3F5F8"/>
          </a:solidFill>
          <a:ln/>
        </p:spPr>
      </p:sp>
      <p:sp>
        <p:nvSpPr>
          <p:cNvPr id="16" name="규칙 번호 4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063A7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4348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E2124"/>
                </a:solidFill>
              </a:rPr>
              <a:t>식별자 세트 고정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64C53"/>
                </a:solidFill>
              </a:rPr>
              <a:t>대상유형 + 객체 ID + 원천 관리번호 + 공간객체 ID. ID를 만들거나 분해해 추론하지 않는다.</a:t>
            </a:r>
            <a:endParaRPr lang="en-US" sz="1700" dirty="0"/>
          </a:p>
        </p:txBody>
      </p:sp>
      <p:sp>
        <p:nvSpPr>
          <p:cNvPr id="19" name="규칙 5"/>
          <p:cNvSpPr/>
          <p:nvPr/>
        </p:nvSpPr>
        <p:spPr>
          <a:xfrm>
            <a:off x="4279392" y="35661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3F5F8"/>
          </a:solidFill>
          <a:ln/>
        </p:spPr>
      </p:sp>
      <p:sp>
        <p:nvSpPr>
          <p:cNvPr id="20" name="규칙 번호 5"/>
          <p:cNvSpPr/>
          <p:nvPr/>
        </p:nvSpPr>
        <p:spPr>
          <a:xfrm>
            <a:off x="4507992" y="3794760"/>
            <a:ext cx="502920" cy="502920"/>
          </a:xfrm>
          <a:prstGeom prst="ellipse">
            <a:avLst/>
          </a:prstGeom>
          <a:solidFill>
            <a:srgbClr val="063A7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07992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507992" y="44348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E2124"/>
                </a:solidFill>
              </a:rPr>
              <a:t>연결은 그룹별 ID로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64C53"/>
                </a:solidFill>
              </a:rPr>
              <a:t>02 '관련 정보 연결'의 그룹마다 links에 ID 배열. 명시된 ID가 있을 때만 연결한다.</a:t>
            </a:r>
            <a:endParaRPr lang="en-US" sz="1700" dirty="0"/>
          </a:p>
        </p:txBody>
      </p:sp>
      <p:sp>
        <p:nvSpPr>
          <p:cNvPr id="23" name="규칙 6"/>
          <p:cNvSpPr/>
          <p:nvPr/>
        </p:nvSpPr>
        <p:spPr>
          <a:xfrm>
            <a:off x="8147304" y="35661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3F5F8"/>
          </a:solidFill>
          <a:ln/>
        </p:spPr>
      </p:sp>
      <p:sp>
        <p:nvSpPr>
          <p:cNvPr id="24" name="규칙 번호 6"/>
          <p:cNvSpPr/>
          <p:nvPr/>
        </p:nvSpPr>
        <p:spPr>
          <a:xfrm>
            <a:off x="8375904" y="3794760"/>
            <a:ext cx="502920" cy="502920"/>
          </a:xfrm>
          <a:prstGeom prst="ellipse">
            <a:avLst/>
          </a:prstGeom>
          <a:solidFill>
            <a:srgbClr val="063A7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75904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375904" y="44348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E2124"/>
                </a:solidFill>
              </a:rPr>
              <a:t>모르면 UNKNOWN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64C53"/>
                </a:solidFill>
              </a:rPr>
              <a:t>현재 상태·정비 완료 여부를 LLM이 채우지 않는다. 계획자료 값은 기준일(as_of)과 함께.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같은 방식을 나머지 요청에 — API ↔ 02 그룹 ↔ 03 묶음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393192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0917 API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02 그룹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03 정보 제공 묶음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T3Q-04 유사사례 검색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GR-04 목록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DQ-04-001·002 (핵심 표시항목)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8738"/>
                          </a:solidFill>
                        </a:rPr>
                        <a:t>핵심 표시항목 필드 확인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T3Q-05 위험·취약 대상 목록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GR-10 ~ 12 목록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DQ-10-001 · 11-001 · 12-001 핵심항목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8738"/>
                          </a:solidFill>
                        </a:rPr>
                        <a:t>핵심 표시항목 필드 확인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T3Q-10 · 11 사건 상세 · 유사도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GR-04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DQ-04-001 ~ 008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590B"/>
                          </a:solidFill>
                        </a:rPr>
                        <a:t>요인 비교 DQ-04-003·004 보강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T3Q-12 · 13 · 14 타임라인 · 피해복구 · 관측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GR-05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DQ-05-001 ~ 015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590B"/>
                          </a:solidFill>
                        </a:rPr>
                        <a:t>경보·문자·신고 이력 보강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T3Q-15 위험·취약 상세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GR-10 ~ 12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DQ-10-001~029 · 11-001~015 · 12-001~004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8738"/>
                          </a:solidFill>
                        </a:rPr>
                        <a:t>이번 샘플 기준으로 개정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T3Q-16 · 17 하천·계획 지식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GR-13 ~ 16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DQ-13-001 ~ 16-009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590B"/>
                          </a:solidFill>
                        </a:rPr>
                        <a:t>측점표·대안 검토 보강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T3Q-19 근거 조회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GR-06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DQ-06-001 ~ 005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8738"/>
                          </a:solidFill>
                        </a:rPr>
                        <a:t>유지 + dq_id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590B"/>
                          </a:solidFill>
                        </a:rPr>
                        <a:t>(없음) 위성영상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GR-07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DQ-07-001 ~ 007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590B"/>
                          </a:solidFill>
                        </a:rPr>
                        <a:t>T3Q-10 일부 필드 → 영상 상세 확인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590B"/>
                          </a:solidFill>
                        </a:rPr>
                        <a:t>(없음) 소방 신고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GR-08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DQ-08-001 ~ 007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590B"/>
                          </a:solidFill>
                        </a:rPr>
                        <a:t>신규 또는 T3Q-07 확장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590B"/>
                          </a:solidFill>
                        </a:rPr>
                        <a:t>(없음) 대피·매뉴얼 프로세스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GR-17 · 18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DQ-17-001~004 · 18-001~009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590B"/>
                          </a:solidFill>
                        </a:rPr>
                        <a:t>신규 API 필요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T3Q-01 Agent 질의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GR-03 · 19 · 21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24"/>
                          </a:solidFill>
                        </a:rPr>
                        <a:t>DQ-03-001·002 · 19-001 · 21-001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5590B"/>
                          </a:solidFill>
                        </a:rPr>
                        <a:t>응답 구조 확정 회신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안내 상자"/>
          <p:cNvSpPr/>
          <p:nvPr/>
        </p:nvSpPr>
        <p:spPr>
          <a:xfrm>
            <a:off x="411480" y="5669280"/>
            <a:ext cx="11338560" cy="548640"/>
          </a:xfrm>
          <a:prstGeom prst="roundRect">
            <a:avLst>
              <a:gd name="adj" fmla="val 10000"/>
            </a:avLst>
          </a:prstGeom>
          <a:solidFill>
            <a:srgbClr val="EAF2FE"/>
          </a:solidFill>
          <a:ln/>
        </p:spPr>
      </p:sp>
      <p:sp>
        <p:nvSpPr>
          <p:cNvPr id="5" name="안내 문구"/>
          <p:cNvSpPr txBox="1"/>
          <p:nvPr/>
        </p:nvSpPr>
        <p:spPr>
          <a:xfrm>
            <a:off x="576072" y="5669280"/>
            <a:ext cx="11009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124"/>
                </a:solidFill>
              </a:rPr>
              <a:t>제안 순서 : ① T3Q-15 개정안을 T3Q와 먼저 합의(구조 확정) → ② 같은 구조로 T3Q-10~14·16·17 개정 → ③ 매뉴얼·대피(GR-17·18)·소방 신고(GR-08) 신규 요청 → ④ 03 시트 행과 회신표를 dq_id로 대조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내부용 응답 검증을 위해 T3Q에 추가로 요청할 것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0"/>
                <a:gridCol w="1554480"/>
                <a:gridCol w="4663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검증 단계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무엇을 비교하나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책임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T3Q에 요청할 것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① 요청 정합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UNE가 보낸 질의(질문 + context) ↔ Agent가 받은 질의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UNE·T3Q 연계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590B"/>
                          </a:solidFill>
                        </a:rPr>
                        <a:t>응답에 request_echo (받은 질문·context 원본) · interpretation (해석한 의도·지역·재난유형·판단 기준)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② 응답 정답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Agent 응답값 ↔ T3Q가 준비한 정답값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T3Q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590B"/>
                          </a:solidFill>
                        </a:rPr>
                        <a:t>구조화된 정답셋 — 문항마다 기대 의도 · 기대 대상 ID · dq_id별 기대값 · 기대 근거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3A74"/>
                          </a:solidFill>
                        </a:rPr>
                        <a:t>③ 표출 정합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Agent 응답값 ↔ 화면에 그려진 값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</a:rPr>
                        <a:t>UNE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590B"/>
                          </a:solidFill>
                        </a:rPr>
                        <a:t>(요청 없음) UNE가 자체 점검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ontext 예시 상자"/>
          <p:cNvSpPr/>
          <p:nvPr/>
        </p:nvSpPr>
        <p:spPr>
          <a:xfrm>
            <a:off x="411480" y="3429000"/>
            <a:ext cx="11338560" cy="1613002"/>
          </a:xfrm>
          <a:prstGeom prst="roundRect">
            <a:avLst>
              <a:gd name="adj" fmla="val 2834"/>
            </a:avLst>
          </a:prstGeom>
          <a:solidFill>
            <a:srgbClr val="F7F8FA"/>
          </a:solidFill>
          <a:ln w="9525">
            <a:solidFill>
              <a:srgbClr val="D6DCE3"/>
            </a:solidFill>
            <a:prstDash val="solid"/>
          </a:ln>
        </p:spPr>
      </p:sp>
      <p:sp>
        <p:nvSpPr>
          <p:cNvPr id="5" name="context 예시"/>
          <p:cNvSpPr txBox="1"/>
          <p:nvPr/>
        </p:nvSpPr>
        <p:spPr>
          <a:xfrm>
            <a:off x="548640" y="3566160"/>
            <a:ext cx="11064240" cy="133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"id": "CQ-RSK-001", "question": "부산 급경사지는 어디 있고, 왜·언제 위험한가요?",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"context": { "region": "busan", "aiMode": true, "baseTime": "2026-10-03T09:00:00+09:00" 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"expect": {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"intent": "risk",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"entityIds": ["CL-00015", "CL-00011", "CL-00021"],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"values": [ { "dqId": "DQ-10-009", "entityId": "CL-00015", "field": "재해위험도평가점수", "expected": "83" } ],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"citations": [ { "docId": "RISK:CL-00015" } ]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63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}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508772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882"/>
                </a:solidFill>
              </a:rPr>
              <a:t>→ 정답셋 한 문항의 형식(안). 시범서비스는 지금 UNE 시드 기준 180문항으로 검증 중이며, T3Q 정답셋을 받으면 교체한다.</a:t>
            </a:r>
            <a:endParaRPr lang="en-US" sz="1000" dirty="0"/>
          </a:p>
        </p:txBody>
      </p:sp>
      <p:sp>
        <p:nvSpPr>
          <p:cNvPr id="7" name="안내 상자"/>
          <p:cNvSpPr/>
          <p:nvPr/>
        </p:nvSpPr>
        <p:spPr>
          <a:xfrm>
            <a:off x="411480" y="5486400"/>
            <a:ext cx="11338560" cy="731520"/>
          </a:xfrm>
          <a:prstGeom prst="roundRect">
            <a:avLst>
              <a:gd name="adj" fmla="val 7500"/>
            </a:avLst>
          </a:prstGeom>
          <a:solidFill>
            <a:srgbClr val="EAF2FE"/>
          </a:solidFill>
          <a:ln/>
        </p:spPr>
      </p:sp>
      <p:sp>
        <p:nvSpPr>
          <p:cNvPr id="8" name="안내 문구"/>
          <p:cNvSpPr txBox="1"/>
          <p:nvPr/>
        </p:nvSpPr>
        <p:spPr>
          <a:xfrm>
            <a:off x="576072" y="5486400"/>
            <a:ext cx="11009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124"/>
                </a:solidFill>
              </a:rPr>
              <a:t>시범서비스 운영관리 &gt; 「응답 검증」 화면에서 정답셋을 일괄 실행해 ①②③을 자동 판정하고, 문항별 정합/부정합 판정·메모를 CSV로 내보낸다. T3Q 담당자는 운영자 계정으로 접속해 정답값을 직접 고쳐 다시 비교할 수 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부록 — 이전 ID ↔ 개정 ID 대조 (내용 변경 없음)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385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1371600"/>
                <a:gridCol w="704088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개정 그룹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개정 ID 범위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이전 패널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이전 DQ (개정 ID 순서대로)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3A7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GR-03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DQ-03-001~002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AG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123·124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GR-04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DQ-04-001~008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DP-01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001·002·098·099·003·004·005·006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GR-05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DQ-05-001~015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DP-11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039·040·041·042·043·044·045·046·047·093·094·095·096·097·115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GR-06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DQ-06-001~005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DP-13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052·053·054·055·056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GR-07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DQ-07-001~007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DP-14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057·058·059·060·061·062·063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GR-08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DQ-08-001~007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FIRE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116·117·118·119·120·121·122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GR-09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DQ-09-001~005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DP-15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064·065·066·067·114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GR-10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DQ-10-001~029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DP-02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007·008·009·010·011·077·078·079·082·083·084·100·101·102·103·104·085·086·087·088·089·090·091·105·106·107·108·109·110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GR-11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DQ-11-001~015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DP-03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012·013·014·015·016·072·073·074·111·075·076·112·080·081·113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GR-12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DQ-12-001~004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DP-04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017·018·019·020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GR-13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DQ-13-001~004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DP-05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021·022·023·024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GR-14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DQ-14-001~015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DP-06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025·026·126·127·145·027·128·129·146·130·028·131·132·133·029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GR-15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DQ-15-001~011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DP-07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030·134·031·135·136·032·092·138·137·033·034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GR-16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DQ-16-001~009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DP-08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035·139·036·141·142·143·037·140·038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GR-17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DQ-17-001~004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DP-12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048·049·050·051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GR-18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DQ-18-001~009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DP-12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147·148·149·151·150·152·153·154·155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GR-19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DQ-19-001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COMMON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GR-20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DQ-20-001~004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DP-16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068·069·070·071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3A74"/>
                          </a:solidFill>
                        </a:rPr>
                        <a:t>GR-21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DQ-21-001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AG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124"/>
                          </a:solidFill>
                        </a:rPr>
                        <a:t>144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11480" y="60350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7882"/>
                </a:solidFill>
              </a:rPr>
              <a:t>155개 묶음 · 417개 세부 항목의 조회 대상·구분·항목·응답 요청 기준·식별자를 이전 판과 1:1 대조 — 155건 모두 동일. 전체 대조표: DQ_ID_대조표_v1.71(이전→개정).csv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8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tyAI KRDS">
  <a:themeElements>
    <a:clrScheme name="SafetyAI KRDS">
      <a:dk1>
        <a:srgbClr val="1E2124"/>
      </a:dk1>
      <a:lt1>
        <a:srgbClr val="FFFFFF"/>
      </a:lt1>
      <a:dk2>
        <a:srgbClr val="063A74"/>
      </a:dk2>
      <a:lt2>
        <a:srgbClr val="F3F5F8"/>
      </a:lt2>
      <a:accent1>
        <a:srgbClr val="063A74"/>
      </a:accent1>
      <a:accent2>
        <a:srgbClr val="E5590B"/>
      </a:accent2>
      <a:accent3>
        <a:srgbClr val="256EF4"/>
      </a:accent3>
      <a:accent4>
        <a:srgbClr val="228738"/>
      </a:accent4>
      <a:accent5>
        <a:srgbClr val="6F4BD8"/>
      </a:accent5>
      <a:accent6>
        <a:srgbClr val="6D7882"/>
      </a:accent6>
      <a:hlink>
        <a:srgbClr val="256EF4"/>
      </a:hlink>
      <a:folHlink>
        <a:srgbClr val="6F4BD8"/>
      </a:folHlink>
    </a:clrScheme>
    <a:fontScheme name="SafetyAI KRDS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유엔이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상세 기능 요구사항 v1.71 02·03 시트 — 화면과 API 요청으로 읽기</dc:title>
  <dc:subject>PptxGenJS Presentation</dc:subject>
  <dc:creator>유엔이</dc:creator>
  <cp:lastModifiedBy>유엔이</cp:lastModifiedBy>
  <cp:revision>1</cp:revision>
  <dcterms:created xsi:type="dcterms:W3CDTF">2026-10-03T17:45:57Z</dcterms:created>
  <dcterms:modified xsi:type="dcterms:W3CDTF">2026-10-03T17:45:57Z</dcterms:modified>
</cp:coreProperties>
</file>